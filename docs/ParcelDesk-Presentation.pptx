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1f19d912cad4989" /><Relationship Type="http://schemas.openxmlformats.org/officeDocument/2006/relationships/extended-properties" Target="/docProps/app.xml" Id="Rd301e17df5fd40c7" /><Relationship Type="http://schemas.openxmlformats.org/officeDocument/2006/relationships/officeDocument" Target="/ppt/presentation.xml" Id="R46cb3e6651b4456c" /></Relationships>
</file>

<file path=ppt/presentation.xml><?xml version="1.0" encoding="utf-8"?>
<p:presentation xmlns:p="http://schemas.openxmlformats.org/presentationml/2006/main">
  <p:sldMasterIdLst>
    <p:sldMasterId xmlns:r="http://schemas.openxmlformats.org/officeDocument/2006/relationships" id="2147483648" r:id="Rf9627a988e504642"/>
  </p:sldMasterIdLst>
  <p:notesMasterIdLst>
    <p:notesMasterId xmlns:r="http://schemas.openxmlformats.org/officeDocument/2006/relationships" r:id="R0066eecbfcc44a1d"/>
  </p:notesMasterIdLst>
  <p:sldIdLst>
    <p:sldId xmlns:r="http://schemas.openxmlformats.org/officeDocument/2006/relationships" id="256" r:id="R4c82329a58d94882"/>
    <p:sldId xmlns:r="http://schemas.openxmlformats.org/officeDocument/2006/relationships" id="257" r:id="R834ace38f5494277"/>
    <p:sldId xmlns:r="http://schemas.openxmlformats.org/officeDocument/2006/relationships" id="258" r:id="Re4556c0548ce4d75"/>
    <p:sldId xmlns:r="http://schemas.openxmlformats.org/officeDocument/2006/relationships" id="259" r:id="Rd139708099c043e2"/>
    <p:sldId xmlns:r="http://schemas.openxmlformats.org/officeDocument/2006/relationships" id="260" r:id="Rc14d9123a43d4a94"/>
    <p:sldId xmlns:r="http://schemas.openxmlformats.org/officeDocument/2006/relationships" id="261" r:id="R87221e5d16ef4237"/>
    <p:sldId xmlns:r="http://schemas.openxmlformats.org/officeDocument/2006/relationships" id="262" r:id="R9d8dcbcd03b44915"/>
    <p:sldId xmlns:r="http://schemas.openxmlformats.org/officeDocument/2006/relationships" id="263" r:id="R484ff5e103a34e97"/>
    <p:sldId xmlns:r="http://schemas.openxmlformats.org/officeDocument/2006/relationships" id="264" r:id="Ra2b5593a9e2b43e1"/>
    <p:sldId xmlns:r="http://schemas.openxmlformats.org/officeDocument/2006/relationships" id="265" r:id="R4a44cee397de417b"/>
    <p:sldId xmlns:r="http://schemas.openxmlformats.org/officeDocument/2006/relationships" id="266" r:id="R38c96aa24d3640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7bd5cb08344c13" /><Relationship Type="http://schemas.openxmlformats.org/officeDocument/2006/relationships/slideMaster" Target="/ppt/slideMasters/slideMaster1.xml" Id="Rf9627a988e504642" /><Relationship Type="http://schemas.openxmlformats.org/officeDocument/2006/relationships/notesMaster" Target="/ppt/notesMasters/notesMaster1.xml" Id="R0066eecbfcc44a1d" /><Relationship Type="http://schemas.openxmlformats.org/officeDocument/2006/relationships/presProps" Target="/ppt/presProps.xml" Id="R41d4ac0a9e23403a" /><Relationship Type="http://schemas.openxmlformats.org/officeDocument/2006/relationships/tableStyles" Target="/ppt/tableStyles.xml" Id="R9fabb1cd607a4347" /><Relationship Type="http://schemas.openxmlformats.org/officeDocument/2006/relationships/slide" Target="/ppt/slides/slide1.xml" Id="R4c82329a58d94882" /><Relationship Type="http://schemas.openxmlformats.org/officeDocument/2006/relationships/slide" Target="/ppt/slides/slide2.xml" Id="R834ace38f5494277" /><Relationship Type="http://schemas.openxmlformats.org/officeDocument/2006/relationships/slide" Target="/ppt/slides/slide3.xml" Id="Re4556c0548ce4d75" /><Relationship Type="http://schemas.openxmlformats.org/officeDocument/2006/relationships/slide" Target="/ppt/slides/slide4.xml" Id="Rd139708099c043e2" /><Relationship Type="http://schemas.openxmlformats.org/officeDocument/2006/relationships/slide" Target="/ppt/slides/slide5.xml" Id="Rc14d9123a43d4a94" /><Relationship Type="http://schemas.openxmlformats.org/officeDocument/2006/relationships/slide" Target="/ppt/slides/slide6.xml" Id="R87221e5d16ef4237" /><Relationship Type="http://schemas.openxmlformats.org/officeDocument/2006/relationships/slide" Target="/ppt/slides/slide7.xml" Id="R9d8dcbcd03b44915" /><Relationship Type="http://schemas.openxmlformats.org/officeDocument/2006/relationships/slide" Target="/ppt/slides/slide8.xml" Id="R484ff5e103a34e97" /><Relationship Type="http://schemas.openxmlformats.org/officeDocument/2006/relationships/slide" Target="/ppt/slides/slide9.xml" Id="Ra2b5593a9e2b43e1" /><Relationship Type="http://schemas.openxmlformats.org/officeDocument/2006/relationships/slide" Target="/ppt/slides/slide10.xml" Id="R4a44cee397de417b" /><Relationship Type="http://schemas.openxmlformats.org/officeDocument/2006/relationships/slide" Target="/ppt/slides/slide11.xml" Id="R38c96aa24d3640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e9785fb37b43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2885a3e0904de3" /><Relationship Type="http://schemas.openxmlformats.org/officeDocument/2006/relationships/notesMaster" Target="/ppt/notesMasters/notesMaster1.xml" Id="Rf9844e57ea4c41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5da079155c4883" /><Relationship Type="http://schemas.openxmlformats.org/officeDocument/2006/relationships/notesMaster" Target="/ppt/notesMasters/notesMaster1.xml" Id="R64b908260e0143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55b7db22204c74" /><Relationship Type="http://schemas.openxmlformats.org/officeDocument/2006/relationships/notesMaster" Target="/ppt/notesMasters/notesMaster1.xml" Id="R37b10ed2742d40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f579839b064020" /><Relationship Type="http://schemas.openxmlformats.org/officeDocument/2006/relationships/notesMaster" Target="/ppt/notesMasters/notesMaster1.xml" Id="R33c7d83bedec44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58ee7172974712" /><Relationship Type="http://schemas.openxmlformats.org/officeDocument/2006/relationships/notesMaster" Target="/ppt/notesMasters/notesMaster1.xml" Id="Rc7918fc231f64a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b45c7d71f24aad" /><Relationship Type="http://schemas.openxmlformats.org/officeDocument/2006/relationships/notesMaster" Target="/ppt/notesMasters/notesMaster1.xml" Id="R88ef81bb0c8144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fb2491c7394845" /><Relationship Type="http://schemas.openxmlformats.org/officeDocument/2006/relationships/notesMaster" Target="/ppt/notesMasters/notesMaster1.xml" Id="R742ef1b4148c41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5aa9e4c1ca449e" /><Relationship Type="http://schemas.openxmlformats.org/officeDocument/2006/relationships/notesMaster" Target="/ppt/notesMasters/notesMaster1.xml" Id="R3af2fd69aa2746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388569fc2042aa" /><Relationship Type="http://schemas.openxmlformats.org/officeDocument/2006/relationships/notesMaster" Target="/ppt/notesMasters/notesMaster1.xml" Id="R2567e4bb0ce444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e8243dbeeb4408" /><Relationship Type="http://schemas.openxmlformats.org/officeDocument/2006/relationships/notesMaster" Target="/ppt/notesMasters/notesMaster1.xml" Id="R5177804923dc41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313a1e43e14860" /><Relationship Type="http://schemas.openxmlformats.org/officeDocument/2006/relationships/notesMaster" Target="/ppt/notesMasters/notesMaster1.xml" Id="Rcff94aa43aa74c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Introduce yourself, Abhay Kumar. The assignment is about routing parcels, but engineering judgment is in safe changes, authorization and failures. AI assisted creation; demonstrate your own understanding. This is a local application with deployment assets, not a claim of real public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Up to is inclusive: 1 kg Mail, 10 kg Regular. Weight must be positive. Value equal to 1000 is not an insurance hold; 1000.01 is. The proposed department is separate from permission to route. Source: supplied docs/ASSIGNMENT.md.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Source: examples/Container_68465468.xml, reconciled by automated test. All 17 rows are preserved including duplicates. No country appears in source. Enter NL only as an explicit operator-confirmed assumption. Results under v1: 11 routed and 6 held. Routed department counts are Mail 5, Regular 3, Heavy 3. Proposed counts including holds are Mail 6, Regular 5, Heavy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Walk through React components, Express auth/workflow boundary, pure domain functions and SQLite. Domain is deterministic and does not depend on a database, clock or HTTP. Input adapters handle legacy XML and JSON. Transactions couple state changes with audit/idempotency. SQLite fits a single modest installation, not horizontally distributed writes.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including live demo if desired. Create a 10 kg, EUR1000.01 parcel as operator. Show proposed Regular and awaiting insurance. Switch to insurer and approve with a reason. The backend checks role and pending state under a write lock. Competing reviews yield one successful transition and one conflict. Admin cannot approve insurance.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Admin edits structured generic rules, saves expected-output cases, previews at most the latest 5000 stored inputs in a read transaction, adds a reason, and activates. Legacy policies convert on read. Failed test cases block activation. Preview uses active vs proposed policy, not already-approved status. The token binds rules, version and intake snapshot to the admin session. Activation checks again inside the transaction. Insurance threshold cannot be raised above the assignment limit. Old decisions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Same operation key plus same input returns the original committed response. Conflicting content returns 409. All rows validate before writing. Atomic mode rejects invalid files. Explicit partial mode commits valid rows with persistent batch metadata and rejected row reasons. A transaction includes inserts, audit and the retry receipt. The browser retains a key for a same-page retry; refreshing loses that key, so inspect records before resubmitting. Real carrier dispatch would need an outbox and consumer deduplication.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Explain one mechanism from each row. Session cookie is HttpOnly, Secure in production and SameSite Strict; session token is hashed in DB. Mutation CSRF token and insurer/admin route permissions are server checks. XML rejects DTDs and entity declarations before parsing. React escapes user text and Helmet sets a restrictive CSP. Logs retain request IDs. Monitor checks readiness and backlog, retries notification delivery and reports recovery. Real external receiver, MFA/SSO and protected centralized logs remain deployment work. Implementation: server/app.ts, server/auth.ts and server/imports.ts.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Tests cover exact boundaries, generated invariants, XXE, roles, CSRF, retries, atomicity, stale preview, rollback and concurrent workflows. The Node 24 backend suite had 99 passing tests, plus 4 React tests and 1 Playwright workflow. Backend coverage was 95.04% lines, 85.03% branches and 93.90% functions in the recorded run. The isolated 5000-row benchmark took 50.47 milliseconds with an in-memory database, excluding HTTP, disk fsync and concurrency. npm audit reported zero known advisories. Browser workflow verification is recorded in QA.md. Do not describe the audit as proof of vulnerability absence.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Be candid: the assistant generated initial implementation and helped create tests/docs from the user request and supplied assignment. Concrete verification corrected missing-country handling and insurance workflow design, verified a full React and TypeScript migration, and added duplicate-key and prototype-name input regressions. AI_USAGE.md preserves the actual user prompt and labels reusable future prompts as unexecuted. Candidate must review and practice rather than claim unsupported personal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60–120 seconds. Add a priority-zero attributes.fragile eq true rule using the visual editor. Test low and high value; value1000.01 must still hold. Keep the expected result as an activation case, review the diff, preview and activate. Alternatively load IN to Customs. Show rollback as a new version. Future scale: PostgreSQL and queued jobs if volume needs them; SSO/MFA, centralized logging and tested backups before real public traffic. Total planned delivery about 13 minutes; shorten live demo if time is tight.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ba2d7800004a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e2378935df40d6" /><Relationship Type="http://schemas.openxmlformats.org/officeDocument/2006/relationships/slideLayout" Target="/ppt/slideLayouts/slideLayout1.xml" Id="R8a32c9d238fd47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32c9d238fd47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5c1c8c954a40b4" /><Relationship Type="http://schemas.openxmlformats.org/officeDocument/2006/relationships/notesSlide" Target="/ppt/notesSlides/notesSlide1.xml" Id="Rb4ad1d39892344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90f9378b2b4a1c" /><Relationship Type="http://schemas.openxmlformats.org/officeDocument/2006/relationships/notesSlide" Target="/ppt/notesSlides/notesSlide2.xml" Id="R08e5cba7c1f54a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db6b3c73954938" /><Relationship Type="http://schemas.openxmlformats.org/officeDocument/2006/relationships/chart" Target="/ppt/slides/charts/chart1.xml" Id="R2c6cb32aa1604ffb" /><Relationship Type="http://schemas.openxmlformats.org/officeDocument/2006/relationships/notesSlide" Target="/ppt/notesSlides/notesSlide3.xml" Id="Rde1731b7c7db41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cd7a8d96a14896" /><Relationship Type="http://schemas.openxmlformats.org/officeDocument/2006/relationships/notesSlide" Target="/ppt/notesSlides/notesSlide4.xml" Id="R1397ad4b69714a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73939e9a074abc" /><Relationship Type="http://schemas.openxmlformats.org/officeDocument/2006/relationships/notesSlide" Target="/ppt/notesSlides/notesSlide5.xml" Id="Rf7c98621ab0d49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d1a164d68546f4" /><Relationship Type="http://schemas.openxmlformats.org/officeDocument/2006/relationships/notesSlide" Target="/ppt/notesSlides/notesSlide6.xml" Id="R87958ed77a0044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b5310218dc43a6" /><Relationship Type="http://schemas.openxmlformats.org/officeDocument/2006/relationships/notesSlide" Target="/ppt/notesSlides/notesSlide7.xml" Id="Rfcd0654610c541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425007041c4e1f" /><Relationship Type="http://schemas.openxmlformats.org/officeDocument/2006/relationships/notesSlide" Target="/ppt/notesSlides/notesSlide8.xml" Id="R86dbbd337bb34f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ec56fb103e4741" /><Relationship Type="http://schemas.openxmlformats.org/officeDocument/2006/relationships/notesSlide" Target="/ppt/notesSlides/notesSlide9.xml" Id="Re8eaf8c5125943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21e1b0e68e4359" /><Relationship Type="http://schemas.openxmlformats.org/officeDocument/2006/relationships/notesSlide" Target="/ppt/notesSlides/notesSlide10.xml" Id="R1af27af8700a4a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738d6f7b304290" /><Relationship Type="http://schemas.openxmlformats.org/officeDocument/2006/relationships/notesSlide" Target="/ppt/notesSlides/notesSlide11.xml" Id="R05557a5ec4ba41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Parcels</c:v>
          </c:tx>
          <c:spPr>
            <a:solidFill xmlns:a="http://schemas.openxmlformats.org/drawingml/2006/main">
              <a:srgbClr val="66824F"/>
            </a:solidFill>
          </c:spPr>
          <c:cat>
            <c:strRef>
              <c:f>'Chart Data'!$A$2:$A$3</c:f>
              <c:strCache>
                <c:ptCount val="2"/>
                <c:pt idx="0">
                  <c:v>Routed</c:v>
                </c:pt>
                <c:pt idx="1">
                  <c:v>Insurance hold</c:v>
                </c:pt>
              </c:strCache>
            </c:strRef>
          </c:cat>
          <c:val>
            <c:numRef>
              <c:f>'Chart Data'!$B$2:$B$3</c:f>
              <c:numCache>
                <c:formatCode>General</c:formatCode>
                <c:ptCount val="2"/>
                <c:pt idx="0">
                  <c:v>11</c:v>
                </c:pt>
                <c:pt idx="1">
                  <c:v>6</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315940"/>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5694F"/>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D2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741CED-021C-4525-B9C3-DCD1675CFDD9}"/>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7E8"/>
                </a:solidFill>
                <a:latin typeface="Helvetica Neue"/>
                <a:ea typeface="Helvetica Neue"/>
                <a:cs typeface="Helvetica Neue"/>
              </a:defRPr>
            </a:pPr>
            <a:r>
              <a:rPr sz="3600" b="1">
                <a:solidFill>
                  <a:srgbClr val="F4F7E8"/>
                </a:solidFill>
                <a:latin typeface="Helvetica Neue"/>
                <a:ea typeface="Helvetica Neue"/>
                <a:cs typeface="Helvetica Neue"/>
              </a:rPr>
              <a:t>ParcelDesk</a:t>
            </a:r>
          </a:p>
        </p:txBody>
      </p:sp>
      <p:sp>
        <p:nvSpPr>
          <p:cNvPr id="2" name="">
            <a:extLst xmlns:a="http://schemas.openxmlformats.org/drawingml/2006/main">
              <a:ext uri="{FF2B5EF4-FFF2-40B4-BE49-F238E27FC236}">
                <a16:creationId xmlns:a16="http://schemas.microsoft.com/office/drawing/2014/main" id="{5B617309-D850-4F4E-B9AC-324DD913602E}"/>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8BE9B"/>
                </a:solidFill>
                <a:latin typeface="Helvetica Neue"/>
                <a:ea typeface="Helvetica Neue"/>
                <a:cs typeface="Helvetica Neue"/>
              </a:defRPr>
            </a:pPr>
            <a:r>
              <a:rPr sz="1050" b="0">
                <a:solidFill>
                  <a:srgbClr val="A8BE9B"/>
                </a:solidFill>
                <a:latin typeface="Helvetica Neue"/>
                <a:ea typeface="Helvetica Neue"/>
                <a:cs typeface="Helvetica Neue"/>
              </a:rPr>
              <a:t>01  /  PARCELDESK</a:t>
            </a:r>
          </a:p>
        </p:txBody>
      </p:sp>
      <p:sp>
        <p:nvSpPr>
          <p:cNvPr id="3" name="">
            <a:extLst xmlns:a="http://schemas.openxmlformats.org/drawingml/2006/main">
              <a:ext uri="{FF2B5EF4-FFF2-40B4-BE49-F238E27FC236}">
                <a16:creationId xmlns:a16="http://schemas.microsoft.com/office/drawing/2014/main" id="{6FA55E36-8193-49EC-AFA0-E24B867D0757}"/>
              </a:ext>
            </a:extLst>
          </p:cNvPr>
          <p:cNvSpPr>
            <a:spLocks xmlns:a="http://schemas.openxmlformats.org/drawingml/2006/main" noGrp="1"/>
          </p:cNvSpPr>
          <p:nvPr/>
        </p:nvSpPr>
        <p:spPr>
          <a:xfrm xmlns:a="http://schemas.openxmlformats.org/drawingml/2006/main">
            <a:off x="685800" y="2114550"/>
            <a:ext cx="1000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E1EBCB"/>
                </a:solidFill>
                <a:latin typeface="Helvetica Neue"/>
                <a:ea typeface="Helvetica Neue"/>
                <a:cs typeface="Helvetica Neue"/>
              </a:defRPr>
            </a:pPr>
            <a:r>
              <a:rPr sz="4500" b="0">
                <a:solidFill>
                  <a:srgbClr val="E1EBCB"/>
                </a:solidFill>
                <a:latin typeface="Helvetica Neue"/>
                <a:ea typeface="Helvetica Neue"/>
                <a:cs typeface="Helvetica Neue"/>
              </a:rPr>
              <a:t>Parcel routing with controlled change</a:t>
            </a:r>
          </a:p>
        </p:txBody>
      </p:sp>
      <p:sp>
        <p:nvSpPr>
          <p:cNvPr id="4" name="">
            <a:extLst xmlns:a="http://schemas.openxmlformats.org/drawingml/2006/main">
              <a:ext uri="{FF2B5EF4-FFF2-40B4-BE49-F238E27FC236}">
                <a16:creationId xmlns:a16="http://schemas.microsoft.com/office/drawing/2014/main" id="{30FFF027-5CA0-401A-BE7F-878945FD103F}"/>
              </a:ext>
            </a:extLst>
          </p:cNvPr>
          <p:cNvSpPr>
            <a:spLocks xmlns:a="http://schemas.openxmlformats.org/drawingml/2006/main" noGrp="1"/>
          </p:cNvSpPr>
          <p:nvPr/>
        </p:nvSpPr>
        <p:spPr>
          <a:xfrm xmlns:a="http://schemas.openxmlformats.org/drawingml/2006/main">
            <a:off x="723900" y="4276725"/>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C6AA"/>
                </a:solidFill>
                <a:latin typeface="Helvetica Neue"/>
                <a:ea typeface="Helvetica Neue"/>
                <a:cs typeface="Helvetica Neue"/>
              </a:defRPr>
            </a:pPr>
            <a:r>
              <a:rPr sz="1875" b="0">
                <a:solidFill>
                  <a:srgbClr val="B4C6AA"/>
                </a:solidFill>
                <a:latin typeface="Helvetica Neue"/>
                <a:ea typeface="Helvetica Neue"/>
                <a:cs typeface="Helvetica Neue"/>
              </a:rPr>
              <a:t>Abhay Kumar</a:t>
            </a:r>
          </a:p>
          <a:p xmlns:a="http://schemas.openxmlformats.org/drawingml/2006/main">
            <a:pPr>
              <a:defRPr sz="1875" b="0">
                <a:solidFill>
                  <a:srgbClr val="B4C6AA"/>
                </a:solidFill>
                <a:latin typeface="Helvetica Neue"/>
                <a:ea typeface="Helvetica Neue"/>
                <a:cs typeface="Helvetica Neue"/>
              </a:defRPr>
            </a:pPr>
            <a:r>
              <a:rPr sz="1875" b="0">
                <a:solidFill>
                  <a:srgbClr val="B4C6AA"/>
                </a:solidFill>
                <a:latin typeface="Helvetica Neue"/>
                <a:ea typeface="Helvetica Neue"/>
                <a:cs typeface="Helvetica Neue"/>
              </a:rPr>
              <a:t>Technical assessment · 10–15 minute walkthrough</a:t>
            </a:r>
          </a:p>
        </p:txBody>
      </p:sp>
    </p:spTree>
    <p:extLst>
      <p:ext uri="{BB962C8B-B14F-4D97-AF65-F5344CB8AC3E}">
        <p14:creationId xmlns:p14="http://schemas.microsoft.com/office/powerpoint/2010/main" val="91395600"/>
      </p:ext>
    </p:extLst>
  </p:cSld>
</p:sld>
</file>

<file path=ppt/slides/slide2.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04D9E6-7561-46EC-936F-6AFD9FE2AA37}"/>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The business contract</a:t>
            </a:r>
          </a:p>
        </p:txBody>
      </p:sp>
      <p:sp>
        <p:nvSpPr>
          <p:cNvPr id="2" name="">
            <a:extLst xmlns:a="http://schemas.openxmlformats.org/drawingml/2006/main">
              <a:ext uri="{FF2B5EF4-FFF2-40B4-BE49-F238E27FC236}">
                <a16:creationId xmlns:a16="http://schemas.microsoft.com/office/drawing/2014/main" id="{FDAF8DB6-A432-48ED-BCFE-A3C25C883251}"/>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02  /  PARCELDESK</a:t>
            </a:r>
          </a:p>
        </p:txBody>
      </p:sp>
      <p:sp>
        <p:nvSpPr>
          <p:cNvPr id="3" name="">
            <a:extLst xmlns:a="http://schemas.openxmlformats.org/drawingml/2006/main">
              <a:ext uri="{FF2B5EF4-FFF2-40B4-BE49-F238E27FC236}">
                <a16:creationId xmlns:a16="http://schemas.microsoft.com/office/drawing/2014/main" id="{3EA31AA0-51E1-4BB1-9390-C8D8D3DAAAFC}"/>
              </a:ext>
            </a:extLst>
          </p:cNvPr>
          <p:cNvSpPr>
            <a:spLocks xmlns:a="http://schemas.openxmlformats.org/drawingml/2006/main" noGrp="1"/>
          </p:cNvSpPr>
          <p:nvPr/>
        </p:nvSpPr>
        <p:spPr>
          <a:xfrm xmlns:a="http://schemas.openxmlformats.org/drawingml/2006/main">
            <a:off x="685800" y="204787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Weight determines a target</a:t>
            </a:r>
          </a:p>
        </p:txBody>
      </p:sp>
      <p:sp>
        <p:nvSpPr>
          <p:cNvPr id="4" name="">
            <a:extLst xmlns:a="http://schemas.openxmlformats.org/drawingml/2006/main">
              <a:ext uri="{FF2B5EF4-FFF2-40B4-BE49-F238E27FC236}">
                <a16:creationId xmlns:a16="http://schemas.microsoft.com/office/drawing/2014/main" id="{C2B96DC9-8734-4B4F-93A4-367BE5F9DE30}"/>
              </a:ext>
            </a:extLst>
          </p:cNvPr>
          <p:cNvSpPr>
            <a:spLocks xmlns:a="http://schemas.openxmlformats.org/drawingml/2006/main" noGrp="1"/>
          </p:cNvSpPr>
          <p:nvPr/>
        </p:nvSpPr>
        <p:spPr>
          <a:xfrm xmlns:a="http://schemas.openxmlformats.org/drawingml/2006/main">
            <a:off x="4333875" y="204787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0 &lt; weight ≤ 1 kg: Mail</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1 &lt; weight ≤ 10 kg: Regular</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weight &gt; 10 kg: Heavy</a:t>
            </a:r>
          </a:p>
        </p:txBody>
      </p:sp>
      <p:sp>
        <p:nvSpPr>
          <p:cNvPr id="5" name="">
            <a:extLst xmlns:a="http://schemas.openxmlformats.org/drawingml/2006/main">
              <a:ext uri="{FF2B5EF4-FFF2-40B4-BE49-F238E27FC236}">
                <a16:creationId xmlns:a16="http://schemas.microsoft.com/office/drawing/2014/main" id="{6F399918-713B-432E-8C44-BC191CA65CE1}"/>
              </a:ext>
            </a:extLst>
          </p:cNvPr>
          <p:cNvSpPr>
            <a:spLocks xmlns:a="http://schemas.openxmlformats.org/drawingml/2006/main" noGrp="1"/>
          </p:cNvSpPr>
          <p:nvPr/>
        </p:nvSpPr>
        <p:spPr>
          <a:xfrm xmlns:a="http://schemas.openxmlformats.org/drawingml/2006/main">
            <a:off x="685800" y="3857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Insurance controls release</a:t>
            </a:r>
          </a:p>
        </p:txBody>
      </p:sp>
      <p:sp>
        <p:nvSpPr>
          <p:cNvPr id="6" name="">
            <a:extLst xmlns:a="http://schemas.openxmlformats.org/drawingml/2006/main">
              <a:ext uri="{FF2B5EF4-FFF2-40B4-BE49-F238E27FC236}">
                <a16:creationId xmlns:a16="http://schemas.microsoft.com/office/drawing/2014/main" id="{5BF16933-B371-46D2-87A2-9267ABEABE74}"/>
              </a:ext>
            </a:extLst>
          </p:cNvPr>
          <p:cNvSpPr>
            <a:spLocks xmlns:a="http://schemas.openxmlformats.org/drawingml/2006/main" noGrp="1"/>
          </p:cNvSpPr>
          <p:nvPr/>
        </p:nvSpPr>
        <p:spPr>
          <a:xfrm xmlns:a="http://schemas.openxmlformats.org/drawingml/2006/main">
            <a:off x="4333875" y="385762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Above €1,000: hold for approval.</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Only the insurer can release or reject it.</a:t>
            </a:r>
          </a:p>
        </p:txBody>
      </p:sp>
    </p:spTree>
    <p:extLst>
      <p:ext uri="{BB962C8B-B14F-4D97-AF65-F5344CB8AC3E}">
        <p14:creationId xmlns:p14="http://schemas.microsoft.com/office/powerpoint/2010/main" val="2049325186"/>
      </p:ext>
    </p:extLst>
  </p:cSld>
</p:sld>
</file>

<file path=ppt/slides/slide3.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E35515-8DA3-4C2E-B618-CD424E56E6D5}"/>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The supplied XML: 17 parcels</a:t>
            </a:r>
          </a:p>
        </p:txBody>
      </p:sp>
      <p:sp>
        <p:nvSpPr>
          <p:cNvPr id="2" name="">
            <a:extLst xmlns:a="http://schemas.openxmlformats.org/drawingml/2006/main">
              <a:ext uri="{FF2B5EF4-FFF2-40B4-BE49-F238E27FC236}">
                <a16:creationId xmlns:a16="http://schemas.microsoft.com/office/drawing/2014/main" id="{6519C395-28A3-405B-9E83-C6C472B4CD76}"/>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03  /  PARCELDESK</a:t>
            </a:r>
          </a:p>
        </p:txBody>
      </p:sp>
      <p:graphicFrame>
        <p:nvGraphicFramePr>
          <p:cNvPr id="8" name="Chart"/>
          <p:cNvGraphicFramePr/>
          <p:nvPr/>
        </p:nvGraphicFramePr>
        <p:xfrm>
          <a:off xmlns:a="http://schemas.openxmlformats.org/drawingml/2006/main" x="762000" y="1952625"/>
          <a:ext xmlns:a="http://schemas.openxmlformats.org/drawingml/2006/main" cx="6762750" cy="3667125"/>
        </p:xfrm>
        <a:graphic xmlns:a="http://schemas.openxmlformats.org/drawingml/2006/main">
          <a:graphicData uri="http://schemas.openxmlformats.org/drawingml/2006/chart">
            <c:chart xmlns:r="http://schemas.openxmlformats.org/officeDocument/2006/relationships" xmlns:c="http://schemas.openxmlformats.org/drawingml/2006/chart" r:id="R2c6cb32aa1604ffb"/>
          </a:graphicData>
        </a:graphic>
      </p:graphicFrame>
      <p:sp>
        <p:nvSpPr>
          <p:cNvPr id="4" name="">
            <a:extLst xmlns:a="http://schemas.openxmlformats.org/drawingml/2006/main">
              <a:ext uri="{FF2B5EF4-FFF2-40B4-BE49-F238E27FC236}">
                <a16:creationId xmlns:a16="http://schemas.microsoft.com/office/drawing/2014/main" id="{250CA629-4876-4DE6-871E-4935652B2945}"/>
              </a:ext>
            </a:extLst>
          </p:cNvPr>
          <p:cNvSpPr>
            <a:spLocks xmlns:a="http://schemas.openxmlformats.org/drawingml/2006/main" noGrp="1"/>
          </p:cNvSpPr>
          <p:nvPr/>
        </p:nvSpPr>
        <p:spPr>
          <a:xfrm xmlns:a="http://schemas.openxmlformats.org/drawingml/2006/main">
            <a:off x="7953375" y="2238375"/>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15940"/>
                </a:solidFill>
                <a:latin typeface="Helvetica Neue"/>
                <a:ea typeface="Helvetica Neue"/>
                <a:cs typeface="Helvetica Neue"/>
              </a:defRPr>
            </a:pPr>
            <a:r>
              <a:rPr sz="2325" b="1">
                <a:solidFill>
                  <a:srgbClr val="315940"/>
                </a:solidFill>
                <a:latin typeface="Helvetica Neue"/>
                <a:ea typeface="Helvetica Neue"/>
                <a:cs typeface="Helvetica Neue"/>
              </a:rPr>
              <a:t>Country is missing</a:t>
            </a:r>
          </a:p>
        </p:txBody>
      </p:sp>
      <p:sp>
        <p:nvSpPr>
          <p:cNvPr id="5" name="">
            <a:extLst xmlns:a="http://schemas.openxmlformats.org/drawingml/2006/main">
              <a:ext uri="{FF2B5EF4-FFF2-40B4-BE49-F238E27FC236}">
                <a16:creationId xmlns:a16="http://schemas.microsoft.com/office/drawing/2014/main" id="{DAED26B0-D7CD-4040-B960-40278343F22B}"/>
              </a:ext>
            </a:extLst>
          </p:cNvPr>
          <p:cNvSpPr>
            <a:spLocks xmlns:a="http://schemas.openxmlformats.org/drawingml/2006/main" noGrp="1"/>
          </p:cNvSpPr>
          <p:nvPr/>
        </p:nvSpPr>
        <p:spPr>
          <a:xfrm xmlns:a="http://schemas.openxmlformats.org/drawingml/2006/main">
            <a:off x="7953375" y="3143250"/>
            <a:ext cx="3524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94F"/>
                </a:solidFill>
                <a:latin typeface="Helvetica Neue"/>
                <a:ea typeface="Helvetica Neue"/>
                <a:cs typeface="Helvetica Neue"/>
              </a:defRPr>
            </a:pPr>
            <a:r>
              <a:rPr sz="1950" b="0">
                <a:solidFill>
                  <a:srgbClr val="55694F"/>
                </a:solidFill>
                <a:latin typeface="Helvetica Neue"/>
                <a:ea typeface="Helvetica Neue"/>
                <a:cs typeface="Helvetica Neue"/>
              </a:rPr>
              <a:t>Require an explicit fallback.</a:t>
            </a:r>
          </a:p>
          <a:p xmlns:a="http://schemas.openxmlformats.org/drawingml/2006/main">
            <a:pPr>
              <a:defRPr sz="1950" b="0">
                <a:solidFill>
                  <a:srgbClr val="55694F"/>
                </a:solidFill>
                <a:latin typeface="Helvetica Neue"/>
                <a:ea typeface="Helvetica Neue"/>
                <a:cs typeface="Helvetica Neue"/>
              </a:defRPr>
            </a:pPr>
            <a:r>
              <a:rPr sz="1950" b="0">
                <a:solidFill>
                  <a:srgbClr val="55694F"/>
                </a:solidFill>
                <a:latin typeface="Helvetica Neue"/>
                <a:ea typeface="Helvetica Neue"/>
                <a:cs typeface="Helvetica Neue"/>
              </a:rPr>
              <a:t>Never infer it from addresses.</a:t>
            </a:r>
          </a:p>
          <a:p xmlns:a="http://schemas.openxmlformats.org/drawingml/2006/main">
            <a:r>
              <a:t/>
            </a:r>
          </a:p>
          <a:p xmlns:a="http://schemas.openxmlformats.org/drawingml/2006/main">
            <a:pPr>
              <a:defRPr sz="1950" b="0">
                <a:solidFill>
                  <a:srgbClr val="55694F"/>
                </a:solidFill>
                <a:latin typeface="Helvetica Neue"/>
                <a:ea typeface="Helvetica Neue"/>
                <a:cs typeface="Helvetica Neue"/>
              </a:defRPr>
            </a:pPr>
            <a:r>
              <a:rPr sz="1950" b="0">
                <a:solidFill>
                  <a:srgbClr val="55694F"/>
                </a:solidFill>
                <a:latin typeface="Helvetica Neue"/>
                <a:ea typeface="Helvetica Neue"/>
                <a:cs typeface="Helvetica Neue"/>
              </a:rPr>
              <a:t>Duplicate rows remain</a:t>
            </a:r>
          </a:p>
          <a:p xmlns:a="http://schemas.openxmlformats.org/drawingml/2006/main">
            <a:pPr>
              <a:defRPr sz="1950" b="0">
                <a:solidFill>
                  <a:srgbClr val="55694F"/>
                </a:solidFill>
                <a:latin typeface="Helvetica Neue"/>
                <a:ea typeface="Helvetica Neue"/>
                <a:cs typeface="Helvetica Neue"/>
              </a:defRPr>
            </a:pPr>
            <a:r>
              <a:rPr sz="1950" b="0">
                <a:solidFill>
                  <a:srgbClr val="55694F"/>
                </a:solidFill>
                <a:latin typeface="Helvetica Neue"/>
                <a:ea typeface="Helvetica Neue"/>
                <a:cs typeface="Helvetica Neue"/>
              </a:rPr>
              <a:t>separate parcels.</a:t>
            </a:r>
          </a:p>
        </p:txBody>
      </p:sp>
    </p:spTree>
    <p:extLst>
      <p:ext uri="{BB962C8B-B14F-4D97-AF65-F5344CB8AC3E}">
        <p14:creationId xmlns:p14="http://schemas.microsoft.com/office/powerpoint/2010/main" val="299299036"/>
      </p:ext>
    </p:extLst>
  </p:cSld>
</p:sld>
</file>

<file path=ppt/slides/slide4.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149210-31CD-4302-9214-29A6B92A6A81}"/>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Architecture</a:t>
            </a:r>
          </a:p>
        </p:txBody>
      </p:sp>
      <p:sp>
        <p:nvSpPr>
          <p:cNvPr id="2" name="">
            <a:extLst xmlns:a="http://schemas.openxmlformats.org/drawingml/2006/main">
              <a:ext uri="{FF2B5EF4-FFF2-40B4-BE49-F238E27FC236}">
                <a16:creationId xmlns:a16="http://schemas.microsoft.com/office/drawing/2014/main" id="{0032D68D-4418-4418-B8B8-B85950345F2D}"/>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04  /  PARCELDESK</a:t>
            </a:r>
          </a:p>
        </p:txBody>
      </p:sp>
      <p:sp>
        <p:nvSpPr>
          <p:cNvPr id="3" name="">
            <a:extLst xmlns:a="http://schemas.openxmlformats.org/drawingml/2006/main">
              <a:ext uri="{FF2B5EF4-FFF2-40B4-BE49-F238E27FC236}">
                <a16:creationId xmlns:a16="http://schemas.microsoft.com/office/drawing/2014/main" id="{24DCF1E4-78EE-493C-9968-00B4AD5722F3}"/>
              </a:ext>
            </a:extLst>
          </p:cNvPr>
          <p:cNvSpPr>
            <a:spLocks xmlns:a="http://schemas.openxmlformats.org/drawingml/2006/main" noGrp="1"/>
          </p:cNvSpPr>
          <p:nvPr/>
        </p:nvSpPr>
        <p:spPr>
          <a:xfrm xmlns:a="http://schemas.openxmlformats.org/drawingml/2006/main">
            <a:off x="714375" y="2238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315940"/>
                </a:solidFill>
                <a:latin typeface="Helvetica Neue"/>
                <a:ea typeface="Helvetica Neue"/>
                <a:cs typeface="Helvetica Neue"/>
              </a:defRPr>
            </a:pPr>
            <a:r>
              <a:rPr sz="3000" b="1">
                <a:solidFill>
                  <a:srgbClr val="315940"/>
                </a:solidFill>
                <a:latin typeface="Helvetica Neue"/>
                <a:ea typeface="Helvetica Neue"/>
                <a:cs typeface="Helvetica Neue"/>
              </a:rPr>
              <a:t>React / TypeScript / Express / SQLite</a:t>
            </a:r>
          </a:p>
        </p:txBody>
      </p:sp>
      <p:sp>
        <p:nvSpPr>
          <p:cNvPr id="4" name="">
            <a:extLst xmlns:a="http://schemas.openxmlformats.org/drawingml/2006/main">
              <a:ext uri="{FF2B5EF4-FFF2-40B4-BE49-F238E27FC236}">
                <a16:creationId xmlns:a16="http://schemas.microsoft.com/office/drawing/2014/main" id="{E3B48C1E-C66D-4140-B646-E785CE926AAC}"/>
              </a:ext>
            </a:extLst>
          </p:cNvPr>
          <p:cNvSpPr>
            <a:spLocks xmlns:a="http://schemas.openxmlformats.org/drawingml/2006/main" noGrp="1"/>
          </p:cNvSpPr>
          <p:nvPr/>
        </p:nvSpPr>
        <p:spPr>
          <a:xfrm xmlns:a="http://schemas.openxmlformats.org/drawingml/2006/main">
            <a:off x="685800" y="3619500"/>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Clear boundaries</a:t>
            </a:r>
          </a:p>
        </p:txBody>
      </p:sp>
      <p:sp>
        <p:nvSpPr>
          <p:cNvPr id="5" name="">
            <a:extLst xmlns:a="http://schemas.openxmlformats.org/drawingml/2006/main">
              <a:ext uri="{FF2B5EF4-FFF2-40B4-BE49-F238E27FC236}">
                <a16:creationId xmlns:a16="http://schemas.microsoft.com/office/drawing/2014/main" id="{0C4A1990-3230-4B81-BDA8-601F7890BF51}"/>
              </a:ext>
            </a:extLst>
          </p:cNvPr>
          <p:cNvSpPr>
            <a:spLocks xmlns:a="http://schemas.openxmlformats.org/drawingml/2006/main" noGrp="1"/>
          </p:cNvSpPr>
          <p:nvPr/>
        </p:nvSpPr>
        <p:spPr>
          <a:xfrm xmlns:a="http://schemas.openxmlformats.org/drawingml/2006/main">
            <a:off x="4333875" y="361950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UI renders decisions. Server validates and authorizes.</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Transactions preserve state and evidence together.</a:t>
            </a:r>
          </a:p>
        </p:txBody>
      </p:sp>
      <p:sp>
        <p:nvSpPr>
          <p:cNvPr id="6" name="">
            <a:extLst xmlns:a="http://schemas.openxmlformats.org/drawingml/2006/main">
              <a:ext uri="{FF2B5EF4-FFF2-40B4-BE49-F238E27FC236}">
                <a16:creationId xmlns:a16="http://schemas.microsoft.com/office/drawing/2014/main" id="{53110C19-8A79-490E-BA01-D1B679E31593}"/>
              </a:ext>
            </a:extLst>
          </p:cNvPr>
          <p:cNvSpPr>
            <a:spLocks xmlns:a="http://schemas.openxmlformats.org/drawingml/2006/main" noGrp="1"/>
          </p:cNvSpPr>
          <p:nvPr/>
        </p:nvSpPr>
        <p:spPr>
          <a:xfrm xmlns:a="http://schemas.openxmlformats.org/drawingml/2006/main">
            <a:off x="714375" y="53625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68771"/>
                </a:solidFill>
                <a:latin typeface="Helvetica Neue"/>
                <a:ea typeface="Helvetica Neue"/>
                <a:cs typeface="Helvetica Neue"/>
              </a:defRPr>
            </a:pPr>
            <a:r>
              <a:rPr sz="1800" b="0">
                <a:solidFill>
                  <a:srgbClr val="768771"/>
                </a:solidFill>
                <a:latin typeface="Helvetica Neue"/>
                <a:ea typeface="Helvetica Neue"/>
                <a:cs typeface="Helvetica Neue"/>
              </a:rPr>
              <a:t>Vite builds React. Node 24 serves the API and compiled app.</a:t>
            </a:r>
          </a:p>
        </p:txBody>
      </p:sp>
    </p:spTree>
    <p:extLst>
      <p:ext uri="{BB962C8B-B14F-4D97-AF65-F5344CB8AC3E}">
        <p14:creationId xmlns:p14="http://schemas.microsoft.com/office/powerpoint/2010/main" val="1546554735"/>
      </p:ext>
    </p:extLst>
  </p:cSld>
</p:sld>
</file>

<file path=ppt/slides/slide5.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30C805-1699-4EC2-937D-A034B84AF432}"/>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Insurance is a state transition</a:t>
            </a:r>
          </a:p>
        </p:txBody>
      </p:sp>
      <p:sp>
        <p:nvSpPr>
          <p:cNvPr id="2" name="">
            <a:extLst xmlns:a="http://schemas.openxmlformats.org/drawingml/2006/main">
              <a:ext uri="{FF2B5EF4-FFF2-40B4-BE49-F238E27FC236}">
                <a16:creationId xmlns:a16="http://schemas.microsoft.com/office/drawing/2014/main" id="{06FC1DB3-FF57-4B7F-9DA5-4D8F37C3380F}"/>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05  /  PARCELDESK</a:t>
            </a:r>
          </a:p>
        </p:txBody>
      </p:sp>
      <p:sp>
        <p:nvSpPr>
          <p:cNvPr id="3" name="">
            <a:extLst xmlns:a="http://schemas.openxmlformats.org/drawingml/2006/main">
              <a:ext uri="{FF2B5EF4-FFF2-40B4-BE49-F238E27FC236}">
                <a16:creationId xmlns:a16="http://schemas.microsoft.com/office/drawing/2014/main" id="{CFB1FA81-2176-4C92-87B8-FB69D816F139}"/>
              </a:ext>
            </a:extLst>
          </p:cNvPr>
          <p:cNvSpPr>
            <a:spLocks xmlns:a="http://schemas.openxmlformats.org/drawingml/2006/main" noGrp="1"/>
          </p:cNvSpPr>
          <p:nvPr/>
        </p:nvSpPr>
        <p:spPr>
          <a:xfrm xmlns:a="http://schemas.openxmlformats.org/drawingml/2006/main">
            <a:off x="704850" y="216217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315940"/>
                </a:solidFill>
                <a:latin typeface="Helvetica Neue"/>
                <a:ea typeface="Helvetica Neue"/>
                <a:cs typeface="Helvetica Neue"/>
              </a:defRPr>
            </a:pPr>
            <a:r>
              <a:rPr sz="3150" b="1">
                <a:solidFill>
                  <a:srgbClr val="315940"/>
                </a:solidFill>
                <a:latin typeface="Helvetica Neue"/>
                <a:ea typeface="Helvetica Neue"/>
                <a:cs typeface="Helvetica Neue"/>
              </a:rPr>
              <a:t>Intake / Insurance review / Routed or Rejected</a:t>
            </a:r>
          </a:p>
        </p:txBody>
      </p:sp>
      <p:sp>
        <p:nvSpPr>
          <p:cNvPr id="4" name="">
            <a:extLst xmlns:a="http://schemas.openxmlformats.org/drawingml/2006/main">
              <a:ext uri="{FF2B5EF4-FFF2-40B4-BE49-F238E27FC236}">
                <a16:creationId xmlns:a16="http://schemas.microsoft.com/office/drawing/2014/main" id="{4E80A2B3-FE78-46E1-BE02-DD50BF7FD7AD}"/>
              </a:ext>
            </a:extLst>
          </p:cNvPr>
          <p:cNvSpPr>
            <a:spLocks xmlns:a="http://schemas.openxmlformats.org/drawingml/2006/main" noGrp="1"/>
          </p:cNvSpPr>
          <p:nvPr/>
        </p:nvSpPr>
        <p:spPr>
          <a:xfrm xmlns:a="http://schemas.openxmlformats.org/drawingml/2006/main">
            <a:off x="685800" y="3810000"/>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Separate authority</a:t>
            </a:r>
          </a:p>
        </p:txBody>
      </p:sp>
      <p:sp>
        <p:nvSpPr>
          <p:cNvPr id="5" name="">
            <a:extLst xmlns:a="http://schemas.openxmlformats.org/drawingml/2006/main">
              <a:ext uri="{FF2B5EF4-FFF2-40B4-BE49-F238E27FC236}">
                <a16:creationId xmlns:a16="http://schemas.microsoft.com/office/drawing/2014/main" id="{C7420FB2-CF86-4548-A85C-D1E272AA829E}"/>
              </a:ext>
            </a:extLst>
          </p:cNvPr>
          <p:cNvSpPr>
            <a:spLocks xmlns:a="http://schemas.openxmlformats.org/drawingml/2006/main" noGrp="1"/>
          </p:cNvSpPr>
          <p:nvPr/>
        </p:nvSpPr>
        <p:spPr>
          <a:xfrm xmlns:a="http://schemas.openxmlformats.org/drawingml/2006/main">
            <a:off x="4333875" y="381000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The operator submits. The insurer reviews.</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The original policy and review reason stay on record.</a:t>
            </a:r>
          </a:p>
        </p:txBody>
      </p:sp>
    </p:spTree>
    <p:extLst>
      <p:ext uri="{BB962C8B-B14F-4D97-AF65-F5344CB8AC3E}">
        <p14:creationId xmlns:p14="http://schemas.microsoft.com/office/powerpoint/2010/main" val="534572452"/>
      </p:ext>
    </p:extLst>
  </p:cSld>
</p:sld>
</file>

<file path=ppt/slides/slide6.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B00956-EF4F-43CF-B542-2F9B0D2C8DA4}"/>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Safe policy activation</a:t>
            </a:r>
          </a:p>
        </p:txBody>
      </p:sp>
      <p:sp>
        <p:nvSpPr>
          <p:cNvPr id="2" name="">
            <a:extLst xmlns:a="http://schemas.openxmlformats.org/drawingml/2006/main">
              <a:ext uri="{FF2B5EF4-FFF2-40B4-BE49-F238E27FC236}">
                <a16:creationId xmlns:a16="http://schemas.microsoft.com/office/drawing/2014/main" id="{4188B6AE-2C0B-43E5-A796-7AD03648A64A}"/>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06  /  PARCELDESK</a:t>
            </a:r>
          </a:p>
        </p:txBody>
      </p:sp>
      <p:sp>
        <p:nvSpPr>
          <p:cNvPr id="3" name="">
            <a:extLst xmlns:a="http://schemas.openxmlformats.org/drawingml/2006/main">
              <a:ext uri="{FF2B5EF4-FFF2-40B4-BE49-F238E27FC236}">
                <a16:creationId xmlns:a16="http://schemas.microsoft.com/office/drawing/2014/main" id="{A7CC1AE2-5506-4931-B5D5-A31CD83FE21F}"/>
              </a:ext>
            </a:extLst>
          </p:cNvPr>
          <p:cNvSpPr>
            <a:spLocks xmlns:a="http://schemas.openxmlformats.org/drawingml/2006/main" noGrp="1"/>
          </p:cNvSpPr>
          <p:nvPr/>
        </p:nvSpPr>
        <p:spPr>
          <a:xfrm xmlns:a="http://schemas.openxmlformats.org/drawingml/2006/main">
            <a:off x="685800" y="1952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Validate structure</a:t>
            </a:r>
          </a:p>
        </p:txBody>
      </p:sp>
      <p:sp>
        <p:nvSpPr>
          <p:cNvPr id="4" name="">
            <a:extLst xmlns:a="http://schemas.openxmlformats.org/drawingml/2006/main">
              <a:ext uri="{FF2B5EF4-FFF2-40B4-BE49-F238E27FC236}">
                <a16:creationId xmlns:a16="http://schemas.microsoft.com/office/drawing/2014/main" id="{AE31CF4E-B52B-4F3C-9F6B-E9A050BD732B}"/>
              </a:ext>
            </a:extLst>
          </p:cNvPr>
          <p:cNvSpPr>
            <a:spLocks xmlns:a="http://schemas.openxmlformats.org/drawingml/2006/main" noGrp="1"/>
          </p:cNvSpPr>
          <p:nvPr/>
        </p:nvSpPr>
        <p:spPr>
          <a:xfrm xmlns:a="http://schemas.openxmlformats.org/drawingml/2006/main">
            <a:off x="4333875" y="195262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Unique priorities and IDs, one final catch-all.</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Attribute conditions keep insurance independent.</a:t>
            </a:r>
          </a:p>
        </p:txBody>
      </p:sp>
      <p:sp>
        <p:nvSpPr>
          <p:cNvPr id="5" name="">
            <a:extLst xmlns:a="http://schemas.openxmlformats.org/drawingml/2006/main">
              <a:ext uri="{FF2B5EF4-FFF2-40B4-BE49-F238E27FC236}">
                <a16:creationId xmlns:a16="http://schemas.microsoft.com/office/drawing/2014/main" id="{799EB6ED-7D31-4E8C-9979-E972334A7256}"/>
              </a:ext>
            </a:extLst>
          </p:cNvPr>
          <p:cNvSpPr>
            <a:spLocks xmlns:a="http://schemas.openxmlformats.org/drawingml/2006/main" noGrp="1"/>
          </p:cNvSpPr>
          <p:nvPr/>
        </p:nvSpPr>
        <p:spPr>
          <a:xfrm xmlns:a="http://schemas.openxmlformats.org/drawingml/2006/main">
            <a:off x="685800" y="338137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Preview and activate</a:t>
            </a:r>
          </a:p>
        </p:txBody>
      </p:sp>
      <p:sp>
        <p:nvSpPr>
          <p:cNvPr id="6" name="">
            <a:extLst xmlns:a="http://schemas.openxmlformats.org/drawingml/2006/main">
              <a:ext uri="{FF2B5EF4-FFF2-40B4-BE49-F238E27FC236}">
                <a16:creationId xmlns:a16="http://schemas.microsoft.com/office/drawing/2014/main" id="{29A8BD16-C137-4F7A-9B85-D76C26FEF466}"/>
              </a:ext>
            </a:extLst>
          </p:cNvPr>
          <p:cNvSpPr>
            <a:spLocks xmlns:a="http://schemas.openxmlformats.org/drawingml/2006/main" noGrp="1"/>
          </p:cNvSpPr>
          <p:nvPr/>
        </p:nvSpPr>
        <p:spPr>
          <a:xfrm xmlns:a="http://schemas.openxmlformats.org/drawingml/2006/main">
            <a:off x="4333875" y="338137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Test examples and compare the candidate rules.</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Bind the preview to version and intake.</a:t>
            </a:r>
          </a:p>
        </p:txBody>
      </p:sp>
      <p:sp>
        <p:nvSpPr>
          <p:cNvPr id="7" name="">
            <a:extLst xmlns:a="http://schemas.openxmlformats.org/drawingml/2006/main">
              <a:ext uri="{FF2B5EF4-FFF2-40B4-BE49-F238E27FC236}">
                <a16:creationId xmlns:a16="http://schemas.microsoft.com/office/drawing/2014/main" id="{992AB9F6-40D8-4196-A031-61516BCF0B3F}"/>
              </a:ext>
            </a:extLst>
          </p:cNvPr>
          <p:cNvSpPr>
            <a:spLocks xmlns:a="http://schemas.openxmlformats.org/drawingml/2006/main" noGrp="1"/>
          </p:cNvSpPr>
          <p:nvPr/>
        </p:nvSpPr>
        <p:spPr>
          <a:xfrm xmlns:a="http://schemas.openxmlformats.org/drawingml/2006/main">
            <a:off x="704850" y="53244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15940"/>
                </a:solidFill>
                <a:latin typeface="Helvetica Neue"/>
                <a:ea typeface="Helvetica Neue"/>
                <a:cs typeface="Helvetica Neue"/>
              </a:defRPr>
            </a:pPr>
            <a:r>
              <a:rPr sz="2100" b="1">
                <a:solidFill>
                  <a:srgbClr val="315940"/>
                </a:solidFill>
                <a:latin typeface="Helvetica Neue"/>
                <a:ea typeface="Helvetica Neue"/>
                <a:cs typeface="Helvetica Neue"/>
              </a:rPr>
              <a:t>Rollback creates a new version and preserves history.</a:t>
            </a:r>
          </a:p>
        </p:txBody>
      </p:sp>
    </p:spTree>
    <p:extLst>
      <p:ext uri="{BB962C8B-B14F-4D97-AF65-F5344CB8AC3E}">
        <p14:creationId xmlns:p14="http://schemas.microsoft.com/office/powerpoint/2010/main" val="1064720376"/>
      </p:ext>
    </p:extLst>
  </p:cSld>
</p:sld>
</file>

<file path=ppt/slides/slide7.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5E7CB2-F444-405E-A9F5-3D8319F2847A}"/>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Failure handling</a:t>
            </a:r>
          </a:p>
        </p:txBody>
      </p:sp>
      <p:sp>
        <p:nvSpPr>
          <p:cNvPr id="2" name="">
            <a:extLst xmlns:a="http://schemas.openxmlformats.org/drawingml/2006/main">
              <a:ext uri="{FF2B5EF4-FFF2-40B4-BE49-F238E27FC236}">
                <a16:creationId xmlns:a16="http://schemas.microsoft.com/office/drawing/2014/main" id="{CF65A51B-7FD2-4481-A86F-45549B64DEC9}"/>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07  /  PARCELDESK</a:t>
            </a:r>
          </a:p>
        </p:txBody>
      </p:sp>
      <p:sp>
        <p:nvSpPr>
          <p:cNvPr id="3" name="">
            <a:extLst xmlns:a="http://schemas.openxmlformats.org/drawingml/2006/main">
              <a:ext uri="{FF2B5EF4-FFF2-40B4-BE49-F238E27FC236}">
                <a16:creationId xmlns:a16="http://schemas.microsoft.com/office/drawing/2014/main" id="{BC41DF23-BF70-4313-A21F-C5506B5A1189}"/>
              </a:ext>
            </a:extLst>
          </p:cNvPr>
          <p:cNvSpPr>
            <a:spLocks xmlns:a="http://schemas.openxmlformats.org/drawingml/2006/main" noGrp="1"/>
          </p:cNvSpPr>
          <p:nvPr/>
        </p:nvSpPr>
        <p:spPr>
          <a:xfrm xmlns:a="http://schemas.openxmlformats.org/drawingml/2006/main">
            <a:off x="685800" y="2000250"/>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Invalid batch</a:t>
            </a:r>
          </a:p>
        </p:txBody>
      </p:sp>
      <p:sp>
        <p:nvSpPr>
          <p:cNvPr id="4" name="">
            <a:extLst xmlns:a="http://schemas.openxmlformats.org/drawingml/2006/main">
              <a:ext uri="{FF2B5EF4-FFF2-40B4-BE49-F238E27FC236}">
                <a16:creationId xmlns:a16="http://schemas.microsoft.com/office/drawing/2014/main" id="{4358366A-95F3-4F61-8B6C-CB70F4A187B1}"/>
              </a:ext>
            </a:extLst>
          </p:cNvPr>
          <p:cNvSpPr>
            <a:spLocks xmlns:a="http://schemas.openxmlformats.org/drawingml/2006/main" noGrp="1"/>
          </p:cNvSpPr>
          <p:nvPr/>
        </p:nvSpPr>
        <p:spPr>
          <a:xfrm xmlns:a="http://schemas.openxmlformats.org/drawingml/2006/main">
            <a:off x="4333875" y="200025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Preview first. Atomic mode saves no invalid batch.</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Opt into partial mode with rejected-row CSV.</a:t>
            </a:r>
          </a:p>
        </p:txBody>
      </p:sp>
      <p:sp>
        <p:nvSpPr>
          <p:cNvPr id="5" name="">
            <a:extLst xmlns:a="http://schemas.openxmlformats.org/drawingml/2006/main">
              <a:ext uri="{FF2B5EF4-FFF2-40B4-BE49-F238E27FC236}">
                <a16:creationId xmlns:a16="http://schemas.microsoft.com/office/drawing/2014/main" id="{ED90D2EE-2432-493F-9725-B00377D0769C}"/>
              </a:ext>
            </a:extLst>
          </p:cNvPr>
          <p:cNvSpPr>
            <a:spLocks xmlns:a="http://schemas.openxmlformats.org/drawingml/2006/main" noGrp="1"/>
          </p:cNvSpPr>
          <p:nvPr/>
        </p:nvSpPr>
        <p:spPr>
          <a:xfrm xmlns:a="http://schemas.openxmlformats.org/drawingml/2006/main">
            <a:off x="685800" y="357187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Uncertain network result</a:t>
            </a:r>
          </a:p>
        </p:txBody>
      </p:sp>
      <p:sp>
        <p:nvSpPr>
          <p:cNvPr id="6" name="">
            <a:extLst xmlns:a="http://schemas.openxmlformats.org/drawingml/2006/main">
              <a:ext uri="{FF2B5EF4-FFF2-40B4-BE49-F238E27FC236}">
                <a16:creationId xmlns:a16="http://schemas.microsoft.com/office/drawing/2014/main" id="{B18CBF36-4F48-4072-AB21-6BA27835F703}"/>
              </a:ext>
            </a:extLst>
          </p:cNvPr>
          <p:cNvSpPr>
            <a:spLocks xmlns:a="http://schemas.openxmlformats.org/drawingml/2006/main" noGrp="1"/>
          </p:cNvSpPr>
          <p:nvPr/>
        </p:nvSpPr>
        <p:spPr>
          <a:xfrm xmlns:a="http://schemas.openxmlformats.org/drawingml/2006/main">
            <a:off x="4333875" y="357187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Retry the same operation key.</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Recover the original result without another insert.</a:t>
            </a:r>
          </a:p>
        </p:txBody>
      </p:sp>
      <p:sp>
        <p:nvSpPr>
          <p:cNvPr id="7" name="">
            <a:extLst xmlns:a="http://schemas.openxmlformats.org/drawingml/2006/main">
              <a:ext uri="{FF2B5EF4-FFF2-40B4-BE49-F238E27FC236}">
                <a16:creationId xmlns:a16="http://schemas.microsoft.com/office/drawing/2014/main" id="{8D44092B-389B-4F48-916D-1F63662B1944}"/>
              </a:ext>
            </a:extLst>
          </p:cNvPr>
          <p:cNvSpPr>
            <a:spLocks xmlns:a="http://schemas.openxmlformats.org/drawingml/2006/main" noGrp="1"/>
          </p:cNvSpPr>
          <p:nvPr/>
        </p:nvSpPr>
        <p:spPr>
          <a:xfrm xmlns:a="http://schemas.openxmlformats.org/drawingml/2006/main">
            <a:off x="704850" y="53911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68771"/>
                </a:solidFill>
                <a:latin typeface="Helvetica Neue"/>
                <a:ea typeface="Helvetica Neue"/>
                <a:cs typeface="Helvetica Neue"/>
              </a:defRPr>
            </a:pPr>
            <a:r>
              <a:rPr sz="1875" b="0">
                <a:solidFill>
                  <a:srgbClr val="768771"/>
                </a:solidFill>
                <a:latin typeface="Helvetica Neue"/>
                <a:ea typeface="Helvetica Neue"/>
                <a:cs typeface="Helvetica Neue"/>
              </a:rPr>
              <a:t>Operation keys protect retries within this application.</a:t>
            </a:r>
          </a:p>
        </p:txBody>
      </p:sp>
    </p:spTree>
    <p:extLst>
      <p:ext uri="{BB962C8B-B14F-4D97-AF65-F5344CB8AC3E}">
        <p14:creationId xmlns:p14="http://schemas.microsoft.com/office/powerpoint/2010/main" val="1025155386"/>
      </p:ext>
    </p:extLst>
  </p:cSld>
</p:sld>
</file>

<file path=ppt/slides/slide8.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0CF11F-5678-4288-8D4D-36FC4ED45C1C}"/>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Security and visibility</a:t>
            </a:r>
          </a:p>
        </p:txBody>
      </p:sp>
      <p:sp>
        <p:nvSpPr>
          <p:cNvPr id="2" name="">
            <a:extLst xmlns:a="http://schemas.openxmlformats.org/drawingml/2006/main">
              <a:ext uri="{FF2B5EF4-FFF2-40B4-BE49-F238E27FC236}">
                <a16:creationId xmlns:a16="http://schemas.microsoft.com/office/drawing/2014/main" id="{986D68F1-5787-4D25-AFDC-9107EA4EA774}"/>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08  /  PARCELDESK</a:t>
            </a:r>
          </a:p>
        </p:txBody>
      </p:sp>
      <p:sp>
        <p:nvSpPr>
          <p:cNvPr id="3" name="">
            <a:extLst xmlns:a="http://schemas.openxmlformats.org/drawingml/2006/main">
              <a:ext uri="{FF2B5EF4-FFF2-40B4-BE49-F238E27FC236}">
                <a16:creationId xmlns:a16="http://schemas.microsoft.com/office/drawing/2014/main" id="{7D2CA3E6-0273-4624-9728-6EB165526EC9}"/>
              </a:ext>
            </a:extLst>
          </p:cNvPr>
          <p:cNvSpPr>
            <a:spLocks xmlns:a="http://schemas.openxmlformats.org/drawingml/2006/main" noGrp="1"/>
          </p:cNvSpPr>
          <p:nvPr/>
        </p:nvSpPr>
        <p:spPr>
          <a:xfrm xmlns:a="http://schemas.openxmlformats.org/drawingml/2006/main">
            <a:off x="685800" y="1952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Protect the boundary</a:t>
            </a:r>
          </a:p>
        </p:txBody>
      </p:sp>
      <p:sp>
        <p:nvSpPr>
          <p:cNvPr id="4" name="">
            <a:extLst xmlns:a="http://schemas.openxmlformats.org/drawingml/2006/main">
              <a:ext uri="{FF2B5EF4-FFF2-40B4-BE49-F238E27FC236}">
                <a16:creationId xmlns:a16="http://schemas.microsoft.com/office/drawing/2014/main" id="{CBC492E2-F3D8-418C-8894-72C5D101D6BA}"/>
              </a:ext>
            </a:extLst>
          </p:cNvPr>
          <p:cNvSpPr>
            <a:spLocks xmlns:a="http://schemas.openxmlformats.org/drawingml/2006/main" noGrp="1"/>
          </p:cNvSpPr>
          <p:nvPr/>
        </p:nvSpPr>
        <p:spPr>
          <a:xfrm xmlns:a="http://schemas.openxmlformats.org/drawingml/2006/main">
            <a:off x="4333875" y="195262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Authenticated roles, CSRF, safe SQL, XML restrictions,</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content policy, input limits and rate limits.</a:t>
            </a:r>
          </a:p>
        </p:txBody>
      </p:sp>
      <p:sp>
        <p:nvSpPr>
          <p:cNvPr id="5" name="">
            <a:extLst xmlns:a="http://schemas.openxmlformats.org/drawingml/2006/main">
              <a:ext uri="{FF2B5EF4-FFF2-40B4-BE49-F238E27FC236}">
                <a16:creationId xmlns:a16="http://schemas.microsoft.com/office/drawing/2014/main" id="{AFFB0236-CCBF-44D3-9BCC-11492F41E6AA}"/>
              </a:ext>
            </a:extLst>
          </p:cNvPr>
          <p:cNvSpPr>
            <a:spLocks xmlns:a="http://schemas.openxmlformats.org/drawingml/2006/main" noGrp="1"/>
          </p:cNvSpPr>
          <p:nvPr/>
        </p:nvSpPr>
        <p:spPr>
          <a:xfrm xmlns:a="http://schemas.openxmlformats.org/drawingml/2006/main">
            <a:off x="685800" y="3524250"/>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Make failures actionable</a:t>
            </a:r>
          </a:p>
        </p:txBody>
      </p:sp>
      <p:sp>
        <p:nvSpPr>
          <p:cNvPr id="6" name="">
            <a:extLst xmlns:a="http://schemas.openxmlformats.org/drawingml/2006/main">
              <a:ext uri="{FF2B5EF4-FFF2-40B4-BE49-F238E27FC236}">
                <a16:creationId xmlns:a16="http://schemas.microsoft.com/office/drawing/2014/main" id="{9EF786E3-33B0-4484-B549-5BF643722262}"/>
              </a:ext>
            </a:extLst>
          </p:cNvPr>
          <p:cNvSpPr>
            <a:spLocks xmlns:a="http://schemas.openxmlformats.org/drawingml/2006/main" noGrp="1"/>
          </p:cNvSpPr>
          <p:nvPr/>
        </p:nvSpPr>
        <p:spPr>
          <a:xfrm xmlns:a="http://schemas.openxmlformats.org/drawingml/2006/main">
            <a:off x="4333875" y="352425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Prometheus metrics and historical share comparisons.</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Read-only monitor token and direct 503 webhook.</a:t>
            </a:r>
          </a:p>
        </p:txBody>
      </p:sp>
      <p:sp>
        <p:nvSpPr>
          <p:cNvPr id="7" name="">
            <a:extLst xmlns:a="http://schemas.openxmlformats.org/drawingml/2006/main">
              <a:ext uri="{FF2B5EF4-FFF2-40B4-BE49-F238E27FC236}">
                <a16:creationId xmlns:a16="http://schemas.microsoft.com/office/drawing/2014/main" id="{6201908C-2A44-43B3-BC56-6DD7FC951AF7}"/>
              </a:ext>
            </a:extLst>
          </p:cNvPr>
          <p:cNvSpPr>
            <a:spLocks xmlns:a="http://schemas.openxmlformats.org/drawingml/2006/main" noGrp="1"/>
          </p:cNvSpPr>
          <p:nvPr/>
        </p:nvSpPr>
        <p:spPr>
          <a:xfrm xmlns:a="http://schemas.openxmlformats.org/drawingml/2006/main">
            <a:off x="704850" y="532447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68771"/>
                </a:solidFill>
                <a:latin typeface="Helvetica Neue"/>
                <a:ea typeface="Helvetica Neue"/>
                <a:cs typeface="Helvetica Neue"/>
              </a:defRPr>
            </a:pPr>
            <a:r>
              <a:rPr sz="1875" b="0">
                <a:solidFill>
                  <a:srgbClr val="768771"/>
                </a:solidFill>
                <a:latin typeface="Helvetica Neue"/>
                <a:ea typeface="Helvetica Neue"/>
                <a:cs typeface="Helvetica Neue"/>
              </a:rPr>
              <a:t>Public deployment still needs real identity, TLS, alerting and backup operations.</a:t>
            </a:r>
          </a:p>
        </p:txBody>
      </p:sp>
    </p:spTree>
    <p:extLst>
      <p:ext uri="{BB962C8B-B14F-4D97-AF65-F5344CB8AC3E}">
        <p14:creationId xmlns:p14="http://schemas.microsoft.com/office/powerpoint/2010/main" val="2124177656"/>
      </p:ext>
    </p:extLst>
  </p:cSld>
</p:sld>
</file>

<file path=ppt/slides/slide9.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A543EF-D18A-417A-B3AD-470B3DAFBE13}"/>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Verification</a:t>
            </a:r>
          </a:p>
        </p:txBody>
      </p:sp>
      <p:sp>
        <p:nvSpPr>
          <p:cNvPr id="2" name="">
            <a:extLst xmlns:a="http://schemas.openxmlformats.org/drawingml/2006/main">
              <a:ext uri="{FF2B5EF4-FFF2-40B4-BE49-F238E27FC236}">
                <a16:creationId xmlns:a16="http://schemas.microsoft.com/office/drawing/2014/main" id="{FC997AAD-FAA4-415E-A621-28CD3E12200A}"/>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09  /  PARCELDESK</a:t>
            </a:r>
          </a:p>
        </p:txBody>
      </p:sp>
      <p:sp>
        <p:nvSpPr>
          <p:cNvPr id="3" name="">
            <a:extLst xmlns:a="http://schemas.openxmlformats.org/drawingml/2006/main">
              <a:ext uri="{FF2B5EF4-FFF2-40B4-BE49-F238E27FC236}">
                <a16:creationId xmlns:a16="http://schemas.microsoft.com/office/drawing/2014/main" id="{F4664044-3FA7-45F9-BA9D-C931CE0D3583}"/>
              </a:ext>
            </a:extLst>
          </p:cNvPr>
          <p:cNvSpPr>
            <a:spLocks xmlns:a="http://schemas.openxmlformats.org/drawingml/2006/main" noGrp="1"/>
          </p:cNvSpPr>
          <p:nvPr/>
        </p:nvSpPr>
        <p:spPr>
          <a:xfrm xmlns:a="http://schemas.openxmlformats.org/drawingml/2006/main">
            <a:off x="704850" y="2028825"/>
            <a:ext cx="3524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600" b="1">
                <a:solidFill>
                  <a:srgbClr val="315940"/>
                </a:solidFill>
                <a:latin typeface="Helvetica Neue"/>
                <a:ea typeface="Helvetica Neue"/>
                <a:cs typeface="Helvetica Neue"/>
              </a:defRPr>
            </a:pPr>
            <a:r>
              <a:rPr sz="9600" b="1">
                <a:solidFill>
                  <a:srgbClr val="315940"/>
                </a:solidFill>
                <a:latin typeface="Helvetica Neue"/>
                <a:ea typeface="Helvetica Neue"/>
                <a:cs typeface="Helvetica Neue"/>
              </a:rPr>
              <a:t>104</a:t>
            </a:r>
          </a:p>
        </p:txBody>
      </p:sp>
      <p:sp>
        <p:nvSpPr>
          <p:cNvPr id="4" name="">
            <a:extLst xmlns:a="http://schemas.openxmlformats.org/drawingml/2006/main">
              <a:ext uri="{FF2B5EF4-FFF2-40B4-BE49-F238E27FC236}">
                <a16:creationId xmlns:a16="http://schemas.microsoft.com/office/drawing/2014/main" id="{ED2ABEED-50D6-417E-8A28-899DE8523118}"/>
              </a:ext>
            </a:extLst>
          </p:cNvPr>
          <p:cNvSpPr>
            <a:spLocks xmlns:a="http://schemas.openxmlformats.org/drawingml/2006/main" noGrp="1"/>
          </p:cNvSpPr>
          <p:nvPr/>
        </p:nvSpPr>
        <p:spPr>
          <a:xfrm xmlns:a="http://schemas.openxmlformats.org/drawingml/2006/main">
            <a:off x="771525" y="39052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5694F"/>
                </a:solidFill>
                <a:latin typeface="Helvetica Neue"/>
                <a:ea typeface="Helvetica Neue"/>
                <a:cs typeface="Helvetica Neue"/>
              </a:defRPr>
            </a:pPr>
            <a:r>
              <a:rPr sz="2250" b="0">
                <a:solidFill>
                  <a:srgbClr val="55694F"/>
                </a:solidFill>
                <a:latin typeface="Helvetica Neue"/>
                <a:ea typeface="Helvetica Neue"/>
                <a:cs typeface="Helvetica Neue"/>
              </a:rPr>
              <a:t>automated tests passing</a:t>
            </a:r>
          </a:p>
        </p:txBody>
      </p:sp>
      <p:sp>
        <p:nvSpPr>
          <p:cNvPr id="5" name="">
            <a:extLst xmlns:a="http://schemas.openxmlformats.org/drawingml/2006/main">
              <a:ext uri="{FF2B5EF4-FFF2-40B4-BE49-F238E27FC236}">
                <a16:creationId xmlns:a16="http://schemas.microsoft.com/office/drawing/2014/main" id="{D09E887F-DFE6-490B-A0C4-49BE4520AE5F}"/>
              </a:ext>
            </a:extLst>
          </p:cNvPr>
          <p:cNvSpPr>
            <a:spLocks xmlns:a="http://schemas.openxmlformats.org/drawingml/2006/main" noGrp="1"/>
          </p:cNvSpPr>
          <p:nvPr/>
        </p:nvSpPr>
        <p:spPr>
          <a:xfrm xmlns:a="http://schemas.openxmlformats.org/drawingml/2006/main">
            <a:off x="5476875" y="2238375"/>
            <a:ext cx="5905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5694F"/>
                </a:solidFill>
                <a:latin typeface="Helvetica Neue"/>
                <a:ea typeface="Helvetica Neue"/>
                <a:cs typeface="Helvetica Neue"/>
              </a:defRPr>
            </a:pPr>
            <a:r>
              <a:rPr sz="2325" b="0">
                <a:solidFill>
                  <a:srgbClr val="55694F"/>
                </a:solidFill>
                <a:latin typeface="Helvetica Neue"/>
                <a:ea typeface="Helvetica Neue"/>
                <a:cs typeface="Helvetica Neue"/>
              </a:rPr>
              <a:t>99 backend + 4 React + 1 browser</a:t>
            </a:r>
          </a:p>
          <a:p xmlns:a="http://schemas.openxmlformats.org/drawingml/2006/main">
            <a:pPr>
              <a:defRPr sz="2325" b="0">
                <a:solidFill>
                  <a:srgbClr val="55694F"/>
                </a:solidFill>
                <a:latin typeface="Helvetica Neue"/>
                <a:ea typeface="Helvetica Neue"/>
                <a:cs typeface="Helvetica Neue"/>
              </a:defRPr>
            </a:pPr>
            <a:r>
              <a:rPr sz="2325" b="0">
                <a:solidFill>
                  <a:srgbClr val="55694F"/>
                </a:solidFill>
                <a:latin typeface="Helvetica Neue"/>
                <a:ea typeface="Helvetica Neue"/>
                <a:cs typeface="Helvetica Neue"/>
              </a:rPr>
              <a:t>Shrinking properties and golden cases</a:t>
            </a:r>
          </a:p>
          <a:p xmlns:a="http://schemas.openxmlformats.org/drawingml/2006/main">
            <a:pPr>
              <a:defRPr sz="2325" b="0">
                <a:solidFill>
                  <a:srgbClr val="55694F"/>
                </a:solidFill>
                <a:latin typeface="Helvetica Neue"/>
                <a:ea typeface="Helvetica Neue"/>
                <a:cs typeface="Helvetica Neue"/>
              </a:defRPr>
            </a:pPr>
            <a:r>
              <a:rPr sz="2325" b="0">
                <a:solidFill>
                  <a:srgbClr val="55694F"/>
                </a:solidFill>
                <a:latin typeface="Helvetica Neue"/>
                <a:ea typeface="Helvetica Neue"/>
                <a:cs typeface="Helvetica Neue"/>
              </a:rPr>
              <a:t>Coverage thresholds enforced</a:t>
            </a:r>
          </a:p>
          <a:p xmlns:a="http://schemas.openxmlformats.org/drawingml/2006/main">
            <a:pPr>
              <a:defRPr sz="2325" b="0">
                <a:solidFill>
                  <a:srgbClr val="55694F"/>
                </a:solidFill>
                <a:latin typeface="Helvetica Neue"/>
                <a:ea typeface="Helvetica Neue"/>
                <a:cs typeface="Helvetica Neue"/>
              </a:defRPr>
            </a:pPr>
            <a:r>
              <a:rPr sz="2325" b="0">
                <a:solidFill>
                  <a:srgbClr val="55694F"/>
                </a:solidFill>
                <a:latin typeface="Helvetica Neue"/>
                <a:ea typeface="Helvetica Neue"/>
                <a:cs typeface="Helvetica Neue"/>
              </a:rPr>
              <a:t>Lint and formatting in CI</a:t>
            </a:r>
          </a:p>
        </p:txBody>
      </p:sp>
      <p:sp>
        <p:nvSpPr>
          <p:cNvPr id="6" name="">
            <a:extLst xmlns:a="http://schemas.openxmlformats.org/drawingml/2006/main">
              <a:ext uri="{FF2B5EF4-FFF2-40B4-BE49-F238E27FC236}">
                <a16:creationId xmlns:a16="http://schemas.microsoft.com/office/drawing/2014/main" id="{9BEC8A0E-E96C-475D-A77E-8809510FEBE3}"/>
              </a:ext>
            </a:extLst>
          </p:cNvPr>
          <p:cNvSpPr>
            <a:spLocks xmlns:a="http://schemas.openxmlformats.org/drawingml/2006/main" noGrp="1"/>
          </p:cNvSpPr>
          <p:nvPr/>
        </p:nvSpPr>
        <p:spPr>
          <a:xfrm xmlns:a="http://schemas.openxmlformats.org/drawingml/2006/main">
            <a:off x="714375" y="5381625"/>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68771"/>
                </a:solidFill>
                <a:latin typeface="Helvetica Neue"/>
                <a:ea typeface="Helvetica Neue"/>
                <a:cs typeface="Helvetica Neue"/>
              </a:defRPr>
            </a:pPr>
            <a:r>
              <a:rPr sz="1875" b="0">
                <a:solidFill>
                  <a:srgbClr val="768771"/>
                </a:solidFill>
                <a:latin typeface="Helvetica Neue"/>
                <a:ea typeface="Helvetica Neue"/>
                <a:cs typeface="Helvetica Neue"/>
              </a:rPr>
              <a:t>Also: source-file reconciliation, browser checks and a 5,000-row benchmark.</a:t>
            </a:r>
          </a:p>
        </p:txBody>
      </p:sp>
    </p:spTree>
    <p:extLst>
      <p:ext uri="{BB962C8B-B14F-4D97-AF65-F5344CB8AC3E}">
        <p14:creationId xmlns:p14="http://schemas.microsoft.com/office/powerpoint/2010/main" val="385406890"/>
      </p:ext>
    </p:extLst>
  </p:cSld>
</p:sld>
</file>

<file path=ppt/slides/slide10.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3CCACF-0666-44E6-A10C-AA17D4FE5101}"/>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3E31"/>
                </a:solidFill>
                <a:latin typeface="Helvetica Neue"/>
                <a:ea typeface="Helvetica Neue"/>
                <a:cs typeface="Helvetica Neue"/>
              </a:defRPr>
            </a:pPr>
            <a:r>
              <a:rPr sz="3600" b="1">
                <a:solidFill>
                  <a:srgbClr val="233E31"/>
                </a:solidFill>
                <a:latin typeface="Helvetica Neue"/>
                <a:ea typeface="Helvetica Neue"/>
                <a:cs typeface="Helvetica Neue"/>
              </a:rPr>
              <a:t>AI-assisted development and ownership</a:t>
            </a:r>
          </a:p>
        </p:txBody>
      </p:sp>
      <p:sp>
        <p:nvSpPr>
          <p:cNvPr id="2" name="">
            <a:extLst xmlns:a="http://schemas.openxmlformats.org/drawingml/2006/main">
              <a:ext uri="{FF2B5EF4-FFF2-40B4-BE49-F238E27FC236}">
                <a16:creationId xmlns:a16="http://schemas.microsoft.com/office/drawing/2014/main" id="{91F19C8A-004C-4A18-8C77-0B2668E16B82}"/>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68771"/>
                </a:solidFill>
                <a:latin typeface="Helvetica Neue"/>
                <a:ea typeface="Helvetica Neue"/>
                <a:cs typeface="Helvetica Neue"/>
              </a:defRPr>
            </a:pPr>
            <a:r>
              <a:rPr sz="1050" b="0">
                <a:solidFill>
                  <a:srgbClr val="768771"/>
                </a:solidFill>
                <a:latin typeface="Helvetica Neue"/>
                <a:ea typeface="Helvetica Neue"/>
                <a:cs typeface="Helvetica Neue"/>
              </a:rPr>
              <a:t>10  /  PARCELDESK</a:t>
            </a:r>
          </a:p>
        </p:txBody>
      </p:sp>
      <p:sp>
        <p:nvSpPr>
          <p:cNvPr id="3" name="">
            <a:extLst xmlns:a="http://schemas.openxmlformats.org/drawingml/2006/main">
              <a:ext uri="{FF2B5EF4-FFF2-40B4-BE49-F238E27FC236}">
                <a16:creationId xmlns:a16="http://schemas.microsoft.com/office/drawing/2014/main" id="{1E6652E6-EEE8-42B4-A51E-D582BEDF4452}"/>
              </a:ext>
            </a:extLst>
          </p:cNvPr>
          <p:cNvSpPr>
            <a:spLocks xmlns:a="http://schemas.openxmlformats.org/drawingml/2006/main" noGrp="1"/>
          </p:cNvSpPr>
          <p:nvPr/>
        </p:nvSpPr>
        <p:spPr>
          <a:xfrm xmlns:a="http://schemas.openxmlformats.org/drawingml/2006/main">
            <a:off x="685800" y="1952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Implementation and QA</a:t>
            </a:r>
          </a:p>
        </p:txBody>
      </p:sp>
      <p:sp>
        <p:nvSpPr>
          <p:cNvPr id="4" name="">
            <a:extLst xmlns:a="http://schemas.openxmlformats.org/drawingml/2006/main">
              <a:ext uri="{FF2B5EF4-FFF2-40B4-BE49-F238E27FC236}">
                <a16:creationId xmlns:a16="http://schemas.microsoft.com/office/drawing/2014/main" id="{CFEDC972-D346-4706-B3FB-045706B9F4C5}"/>
              </a:ext>
            </a:extLst>
          </p:cNvPr>
          <p:cNvSpPr>
            <a:spLocks xmlns:a="http://schemas.openxmlformats.org/drawingml/2006/main" noGrp="1"/>
          </p:cNvSpPr>
          <p:nvPr/>
        </p:nvSpPr>
        <p:spPr>
          <a:xfrm xmlns:a="http://schemas.openxmlformats.org/drawingml/2006/main">
            <a:off x="4333875" y="195262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AI helped draft the application, tests and explanation.</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Every claim must map to code or executed evidence.</a:t>
            </a:r>
          </a:p>
        </p:txBody>
      </p:sp>
      <p:sp>
        <p:nvSpPr>
          <p:cNvPr id="5" name="">
            <a:extLst xmlns:a="http://schemas.openxmlformats.org/drawingml/2006/main">
              <a:ext uri="{FF2B5EF4-FFF2-40B4-BE49-F238E27FC236}">
                <a16:creationId xmlns:a16="http://schemas.microsoft.com/office/drawing/2014/main" id="{2F86FF22-EB29-4054-9300-672E472CA19F}"/>
              </a:ext>
            </a:extLst>
          </p:cNvPr>
          <p:cNvSpPr>
            <a:spLocks xmlns:a="http://schemas.openxmlformats.org/drawingml/2006/main" noGrp="1"/>
          </p:cNvSpPr>
          <p:nvPr/>
        </p:nvSpPr>
        <p:spPr>
          <a:xfrm xmlns:a="http://schemas.openxmlformats.org/drawingml/2006/main">
            <a:off x="685800" y="3476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15940"/>
                </a:solidFill>
                <a:latin typeface="Helvetica Neue"/>
                <a:ea typeface="Helvetica Neue"/>
                <a:cs typeface="Helvetica Neue"/>
              </a:defRPr>
            </a:pPr>
            <a:r>
              <a:rPr sz="2250" b="1">
                <a:solidFill>
                  <a:srgbClr val="315940"/>
                </a:solidFill>
                <a:latin typeface="Helvetica Neue"/>
                <a:ea typeface="Helvetica Neue"/>
                <a:cs typeface="Helvetica Neue"/>
              </a:rPr>
              <a:t>Corrections from evidence</a:t>
            </a:r>
          </a:p>
        </p:txBody>
      </p:sp>
      <p:sp>
        <p:nvSpPr>
          <p:cNvPr id="6" name="">
            <a:extLst xmlns:a="http://schemas.openxmlformats.org/drawingml/2006/main">
              <a:ext uri="{FF2B5EF4-FFF2-40B4-BE49-F238E27FC236}">
                <a16:creationId xmlns:a16="http://schemas.microsoft.com/office/drawing/2014/main" id="{5FA2BC2F-A180-459C-A74F-0D35E904C2E1}"/>
              </a:ext>
            </a:extLst>
          </p:cNvPr>
          <p:cNvSpPr>
            <a:spLocks xmlns:a="http://schemas.openxmlformats.org/drawingml/2006/main" noGrp="1"/>
          </p:cNvSpPr>
          <p:nvPr/>
        </p:nvSpPr>
        <p:spPr>
          <a:xfrm xmlns:a="http://schemas.openxmlformats.org/drawingml/2006/main">
            <a:off x="4333875" y="347662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Browser tests caught a duplicate filter parameter.</a:t>
            </a:r>
          </a:p>
          <a:p xmlns:a="http://schemas.openxmlformats.org/drawingml/2006/main">
            <a:pPr>
              <a:defRPr sz="2025" b="0">
                <a:solidFill>
                  <a:srgbClr val="55694F"/>
                </a:solidFill>
                <a:latin typeface="Helvetica Neue"/>
                <a:ea typeface="Helvetica Neue"/>
                <a:cs typeface="Helvetica Neue"/>
              </a:defRPr>
            </a:pPr>
            <a:r>
              <a:rPr sz="2025" b="0">
                <a:solidFill>
                  <a:srgbClr val="55694F"/>
                </a:solidFill>
                <a:latin typeface="Helvetica Neue"/>
                <a:ea typeface="Helvetica Neue"/>
                <a:cs typeface="Helvetica Neue"/>
              </a:rPr>
              <a:t>The corrected queue now completes insurer review.</a:t>
            </a:r>
          </a:p>
        </p:txBody>
      </p:sp>
      <p:sp>
        <p:nvSpPr>
          <p:cNvPr id="7" name="">
            <a:extLst xmlns:a="http://schemas.openxmlformats.org/drawingml/2006/main">
              <a:ext uri="{FF2B5EF4-FFF2-40B4-BE49-F238E27FC236}">
                <a16:creationId xmlns:a16="http://schemas.microsoft.com/office/drawing/2014/main" id="{694A8664-312F-49B7-BE80-928168F8BE5A}"/>
              </a:ext>
            </a:extLst>
          </p:cNvPr>
          <p:cNvSpPr>
            <a:spLocks xmlns:a="http://schemas.openxmlformats.org/drawingml/2006/main" noGrp="1"/>
          </p:cNvSpPr>
          <p:nvPr/>
        </p:nvSpPr>
        <p:spPr>
          <a:xfrm xmlns:a="http://schemas.openxmlformats.org/drawingml/2006/main">
            <a:off x="704850" y="53816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15940"/>
                </a:solidFill>
                <a:latin typeface="Helvetica Neue"/>
                <a:ea typeface="Helvetica Neue"/>
                <a:cs typeface="Helvetica Neue"/>
              </a:defRPr>
            </a:pPr>
            <a:r>
              <a:rPr sz="2025" b="1">
                <a:solidFill>
                  <a:srgbClr val="315940"/>
                </a:solidFill>
                <a:latin typeface="Helvetica Neue"/>
                <a:ea typeface="Helvetica Neue"/>
                <a:cs typeface="Helvetica Neue"/>
              </a:rPr>
              <a:t>Ownership means explaining the choices, reproducing results and knowing the limits.</a:t>
            </a:r>
          </a:p>
        </p:txBody>
      </p:sp>
    </p:spTree>
    <p:extLst>
      <p:ext uri="{BB962C8B-B14F-4D97-AF65-F5344CB8AC3E}">
        <p14:creationId xmlns:p14="http://schemas.microsoft.com/office/powerpoint/2010/main" val="1743642654"/>
      </p:ext>
    </p:extLst>
  </p:cSld>
</p:sld>
</file>

<file path=ppt/slides/slide11.xml><?xml version="1.0" encoding="utf-8"?>
<p:sld xmlns:p="http://schemas.openxmlformats.org/presentationml/2006/main">
  <p:cSld>
    <p:bg>
      <p:bgPr>
        <a:solidFill xmlns:a="http://schemas.openxmlformats.org/drawingml/2006/main">
          <a:srgbClr val="182D2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7F2BA3-956A-42BE-884B-CEAF2370269F}"/>
              </a:ext>
            </a:extLst>
          </p:cNvPr>
          <p:cNvSpPr>
            <a:spLocks xmlns:a="http://schemas.openxmlformats.org/drawingml/2006/main" noGrp="1"/>
          </p:cNvSpPr>
          <p:nvPr/>
        </p:nvSpPr>
        <p:spPr>
          <a:xfrm xmlns:a="http://schemas.openxmlformats.org/drawingml/2006/main">
            <a:off x="666750" y="5524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7E8"/>
                </a:solidFill>
                <a:latin typeface="Helvetica Neue"/>
                <a:ea typeface="Helvetica Neue"/>
                <a:cs typeface="Helvetica Neue"/>
              </a:defRPr>
            </a:pPr>
            <a:r>
              <a:rPr sz="3600" b="1">
                <a:solidFill>
                  <a:srgbClr val="F4F7E8"/>
                </a:solidFill>
                <a:latin typeface="Helvetica Neue"/>
                <a:ea typeface="Helvetica Neue"/>
                <a:cs typeface="Helvetica Neue"/>
              </a:rPr>
              <a:t>Live extension and next steps</a:t>
            </a:r>
          </a:p>
        </p:txBody>
      </p:sp>
      <p:sp>
        <p:nvSpPr>
          <p:cNvPr id="2" name="">
            <a:extLst xmlns:a="http://schemas.openxmlformats.org/drawingml/2006/main">
              <a:ext uri="{FF2B5EF4-FFF2-40B4-BE49-F238E27FC236}">
                <a16:creationId xmlns:a16="http://schemas.microsoft.com/office/drawing/2014/main" id="{B855381D-24C9-4ED8-BACC-FF24721C3501}"/>
              </a:ext>
            </a:extLst>
          </p:cNvPr>
          <p:cNvSpPr>
            <a:spLocks xmlns:a="http://schemas.openxmlformats.org/drawingml/2006/main" noGrp="1"/>
          </p:cNvSpPr>
          <p:nvPr/>
        </p:nvSpPr>
        <p:spPr>
          <a:xfrm xmlns:a="http://schemas.openxmlformats.org/drawingml/2006/main">
            <a:off x="666750" y="62769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8BE9B"/>
                </a:solidFill>
                <a:latin typeface="Helvetica Neue"/>
                <a:ea typeface="Helvetica Neue"/>
                <a:cs typeface="Helvetica Neue"/>
              </a:defRPr>
            </a:pPr>
            <a:r>
              <a:rPr sz="1050" b="0">
                <a:solidFill>
                  <a:srgbClr val="A8BE9B"/>
                </a:solidFill>
                <a:latin typeface="Helvetica Neue"/>
                <a:ea typeface="Helvetica Neue"/>
                <a:cs typeface="Helvetica Neue"/>
              </a:rPr>
              <a:t>11  /  PARCELDESK</a:t>
            </a:r>
          </a:p>
        </p:txBody>
      </p:sp>
      <p:sp>
        <p:nvSpPr>
          <p:cNvPr id="3" name="">
            <a:extLst xmlns:a="http://schemas.openxmlformats.org/drawingml/2006/main">
              <a:ext uri="{FF2B5EF4-FFF2-40B4-BE49-F238E27FC236}">
                <a16:creationId xmlns:a16="http://schemas.microsoft.com/office/drawing/2014/main" id="{2D167904-74CD-489A-A519-98B859B7F6B9}"/>
              </a:ext>
            </a:extLst>
          </p:cNvPr>
          <p:cNvSpPr>
            <a:spLocks xmlns:a="http://schemas.openxmlformats.org/drawingml/2006/main" noGrp="1"/>
          </p:cNvSpPr>
          <p:nvPr/>
        </p:nvSpPr>
        <p:spPr>
          <a:xfrm xmlns:a="http://schemas.openxmlformats.org/drawingml/2006/main">
            <a:off x="714375" y="2124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E1EBCB"/>
                </a:solidFill>
                <a:latin typeface="Helvetica Neue"/>
                <a:ea typeface="Helvetica Neue"/>
                <a:cs typeface="Helvetica Neue"/>
              </a:defRPr>
            </a:pPr>
            <a:r>
              <a:rPr sz="4050" b="1">
                <a:solidFill>
                  <a:srgbClr val="E1EBCB"/>
                </a:solidFill>
                <a:latin typeface="Helvetica Neue"/>
                <a:ea typeface="Helvetica Neue"/>
                <a:cs typeface="Helvetica Neue"/>
              </a:rPr>
              <a:t>Fragile parcels: Special department</a:t>
            </a:r>
          </a:p>
        </p:txBody>
      </p:sp>
      <p:sp>
        <p:nvSpPr>
          <p:cNvPr id="4" name="">
            <a:extLst xmlns:a="http://schemas.openxmlformats.org/drawingml/2006/main">
              <a:ext uri="{FF2B5EF4-FFF2-40B4-BE49-F238E27FC236}">
                <a16:creationId xmlns:a16="http://schemas.microsoft.com/office/drawing/2014/main" id="{D3600927-DFB1-4CB2-ABF4-440BDFA9CE49}"/>
              </a:ext>
            </a:extLst>
          </p:cNvPr>
          <p:cNvSpPr>
            <a:spLocks xmlns:a="http://schemas.openxmlformats.org/drawingml/2006/main" noGrp="1"/>
          </p:cNvSpPr>
          <p:nvPr/>
        </p:nvSpPr>
        <p:spPr>
          <a:xfrm xmlns:a="http://schemas.openxmlformats.org/drawingml/2006/main">
            <a:off x="714375" y="3552825"/>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B4C6AA"/>
                </a:solidFill>
                <a:latin typeface="Helvetica Neue"/>
                <a:ea typeface="Helvetica Neue"/>
                <a:cs typeface="Helvetica Neue"/>
              </a:defRPr>
            </a:pPr>
            <a:r>
              <a:rPr sz="2475" b="0">
                <a:solidFill>
                  <a:srgbClr val="B4C6AA"/>
                </a:solidFill>
                <a:latin typeface="Helvetica Neue"/>
                <a:ea typeface="Helvetica Neue"/>
                <a:cs typeface="Helvetica Neue"/>
              </a:rPr>
              <a:t>Test the boundaries. Preview the impact.</a:t>
            </a:r>
          </a:p>
          <a:p xmlns:a="http://schemas.openxmlformats.org/drawingml/2006/main">
            <a:pPr>
              <a:defRPr sz="2475" b="0">
                <a:solidFill>
                  <a:srgbClr val="B4C6AA"/>
                </a:solidFill>
                <a:latin typeface="Helvetica Neue"/>
                <a:ea typeface="Helvetica Neue"/>
                <a:cs typeface="Helvetica Neue"/>
              </a:defRPr>
            </a:pPr>
            <a:r>
              <a:rPr sz="2475" b="0">
                <a:solidFill>
                  <a:srgbClr val="B4C6AA"/>
                </a:solidFill>
                <a:latin typeface="Helvetica Neue"/>
                <a:ea typeface="Helvetica Neue"/>
                <a:cs typeface="Helvetica Neue"/>
              </a:rPr>
              <a:t>Keep insurance independent. Roll back safely.</a:t>
            </a:r>
          </a:p>
        </p:txBody>
      </p:sp>
    </p:spTree>
    <p:extLst>
      <p:ext uri="{BB962C8B-B14F-4D97-AF65-F5344CB8AC3E}">
        <p14:creationId xmlns:p14="http://schemas.microsoft.com/office/powerpoint/2010/main" val="14475874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2026-09-24T20:20:14.4040000Z</dcterms:created>
  <dcterms:modified xsi:type="dcterms:W3CDTF">2026-09-24T20:20:14.4040000Z</dcterms:modified>
</coreProperties>
</file>