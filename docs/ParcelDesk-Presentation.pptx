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7d4eb688624374" /><Relationship Type="http://schemas.openxmlformats.org/officeDocument/2006/relationships/extended-properties" Target="/docProps/app.xml" Id="R4be2e44cf20741b6" /><Relationship Type="http://schemas.openxmlformats.org/officeDocument/2006/relationships/officeDocument" Target="/ppt/presentation.xml" Id="Re09e4f20bbef44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d849cb380744a0"/>
  </p:sldMasterIdLst>
  <p:notesMasterIdLst>
    <p:notesMasterId xmlns:r="http://schemas.openxmlformats.org/officeDocument/2006/relationships" r:id="R2ed85386f11e48e9"/>
  </p:notesMasterIdLst>
  <p:sldIdLst>
    <p:sldId xmlns:r="http://schemas.openxmlformats.org/officeDocument/2006/relationships" id="256" r:id="R077591077ff84fc4"/>
    <p:sldId xmlns:r="http://schemas.openxmlformats.org/officeDocument/2006/relationships" id="257" r:id="Rbc1b4b5933a94baa"/>
    <p:sldId xmlns:r="http://schemas.openxmlformats.org/officeDocument/2006/relationships" id="258" r:id="Rf5edb3d0e9f743cc"/>
    <p:sldId xmlns:r="http://schemas.openxmlformats.org/officeDocument/2006/relationships" id="259" r:id="R19853e65320847c9"/>
    <p:sldId xmlns:r="http://schemas.openxmlformats.org/officeDocument/2006/relationships" id="260" r:id="Rb79574ae94b74b8b"/>
    <p:sldId xmlns:r="http://schemas.openxmlformats.org/officeDocument/2006/relationships" id="261" r:id="Rfd960248d3b5474f"/>
    <p:sldId xmlns:r="http://schemas.openxmlformats.org/officeDocument/2006/relationships" id="262" r:id="R20fe1d72777a4072"/>
    <p:sldId xmlns:r="http://schemas.openxmlformats.org/officeDocument/2006/relationships" id="263" r:id="Reb451e498d15473e"/>
    <p:sldId xmlns:r="http://schemas.openxmlformats.org/officeDocument/2006/relationships" id="264" r:id="R16f4f8c9ad63435b"/>
    <p:sldId xmlns:r="http://schemas.openxmlformats.org/officeDocument/2006/relationships" id="265" r:id="R0b063d17106c4211"/>
    <p:sldId xmlns:r="http://schemas.openxmlformats.org/officeDocument/2006/relationships" id="266" r:id="R9332de6dacc2401a"/>
    <p:sldId xmlns:r="http://schemas.openxmlformats.org/officeDocument/2006/relationships" id="267" r:id="R6d000b91e27b44ed"/>
    <p:sldId xmlns:r="http://schemas.openxmlformats.org/officeDocument/2006/relationships" id="268" r:id="R3161ad5d7e9d4c59"/>
    <p:sldId xmlns:r="http://schemas.openxmlformats.org/officeDocument/2006/relationships" id="269" r:id="Rb6fb25d621814fc8"/>
    <p:sldId xmlns:r="http://schemas.openxmlformats.org/officeDocument/2006/relationships" id="270" r:id="Rd967069608da4f70"/>
    <p:sldId xmlns:r="http://schemas.openxmlformats.org/officeDocument/2006/relationships" id="271" r:id="R0a29bbb503a640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c630d22b7f4974" /><Relationship Type="http://schemas.openxmlformats.org/officeDocument/2006/relationships/slideMaster" Target="/ppt/slideMasters/slideMaster1.xml" Id="R6fd849cb380744a0" /><Relationship Type="http://schemas.openxmlformats.org/officeDocument/2006/relationships/notesMaster" Target="/ppt/notesMasters/notesMaster1.xml" Id="R2ed85386f11e48e9" /><Relationship Type="http://schemas.openxmlformats.org/officeDocument/2006/relationships/presProps" Target="/ppt/presProps.xml" Id="Rc1a7f3800e8944a4" /><Relationship Type="http://schemas.openxmlformats.org/officeDocument/2006/relationships/viewProps" Target="/ppt/viewProps.xml" Id="R67c318e77bb8462d" /><Relationship Type="http://schemas.openxmlformats.org/officeDocument/2006/relationships/tableStyles" Target="/ppt/tableStyles.xml" Id="Re2a3a0d7d83c49d9" /><Relationship Type="http://schemas.openxmlformats.org/officeDocument/2006/relationships/slide" Target="/ppt/slides/slide1.xml" Id="R077591077ff84fc4" /><Relationship Type="http://schemas.openxmlformats.org/officeDocument/2006/relationships/slide" Target="/ppt/slides/slide2.xml" Id="Rbc1b4b5933a94baa" /><Relationship Type="http://schemas.openxmlformats.org/officeDocument/2006/relationships/slide" Target="/ppt/slides/slide3.xml" Id="Rf5edb3d0e9f743cc" /><Relationship Type="http://schemas.openxmlformats.org/officeDocument/2006/relationships/slide" Target="/ppt/slides/slide4.xml" Id="R19853e65320847c9" /><Relationship Type="http://schemas.openxmlformats.org/officeDocument/2006/relationships/slide" Target="/ppt/slides/slide5.xml" Id="Rb79574ae94b74b8b" /><Relationship Type="http://schemas.openxmlformats.org/officeDocument/2006/relationships/slide" Target="/ppt/slides/slide6.xml" Id="Rfd960248d3b5474f" /><Relationship Type="http://schemas.openxmlformats.org/officeDocument/2006/relationships/slide" Target="/ppt/slides/slide7.xml" Id="R20fe1d72777a4072" /><Relationship Type="http://schemas.openxmlformats.org/officeDocument/2006/relationships/slide" Target="/ppt/slides/slide8.xml" Id="Reb451e498d15473e" /><Relationship Type="http://schemas.openxmlformats.org/officeDocument/2006/relationships/slide" Target="/ppt/slides/slide9.xml" Id="R16f4f8c9ad63435b" /><Relationship Type="http://schemas.openxmlformats.org/officeDocument/2006/relationships/slide" Target="/ppt/slides/slide10.xml" Id="R0b063d17106c4211" /><Relationship Type="http://schemas.openxmlformats.org/officeDocument/2006/relationships/slide" Target="/ppt/slides/slide11.xml" Id="R9332de6dacc2401a" /><Relationship Type="http://schemas.openxmlformats.org/officeDocument/2006/relationships/slide" Target="/ppt/slides/slide12.xml" Id="R6d000b91e27b44ed" /><Relationship Type="http://schemas.openxmlformats.org/officeDocument/2006/relationships/slide" Target="/ppt/slides/slide13.xml" Id="R3161ad5d7e9d4c59" /><Relationship Type="http://schemas.openxmlformats.org/officeDocument/2006/relationships/slide" Target="/ppt/slides/slide14.xml" Id="Rb6fb25d621814fc8" /><Relationship Type="http://schemas.openxmlformats.org/officeDocument/2006/relationships/slide" Target="/ppt/slides/slide15.xml" Id="Rd967069608da4f70" /><Relationship Type="http://schemas.openxmlformats.org/officeDocument/2006/relationships/slide" Target="/ppt/slides/slide16.xml" Id="R0a29bbb503a640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a90c7fdb7943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45f0e6812044b5" /><Relationship Type="http://schemas.openxmlformats.org/officeDocument/2006/relationships/notesMaster" Target="/ppt/notesMasters/notesMaster1.xml" Id="Ra78b0398fb6a4c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2335770ab94da6" /><Relationship Type="http://schemas.openxmlformats.org/officeDocument/2006/relationships/notesMaster" Target="/ppt/notesMasters/notesMaster1.xml" Id="R3d085b8b14794a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08a65449eb4b62" /><Relationship Type="http://schemas.openxmlformats.org/officeDocument/2006/relationships/notesMaster" Target="/ppt/notesMasters/notesMaster1.xml" Id="R688efaafafba43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34222adc35482e" /><Relationship Type="http://schemas.openxmlformats.org/officeDocument/2006/relationships/notesMaster" Target="/ppt/notesMasters/notesMaster1.xml" Id="R855e04fd0a3648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799da7ad894807" /><Relationship Type="http://schemas.openxmlformats.org/officeDocument/2006/relationships/notesMaster" Target="/ppt/notesMasters/notesMaster1.xml" Id="Ra1979e047c9340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e4ef916e184b14" /><Relationship Type="http://schemas.openxmlformats.org/officeDocument/2006/relationships/notesMaster" Target="/ppt/notesMasters/notesMaster1.xml" Id="R782ec45975104e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826e4610fa47cb" /><Relationship Type="http://schemas.openxmlformats.org/officeDocument/2006/relationships/notesMaster" Target="/ppt/notesMasters/notesMaster1.xml" Id="R8af59dfde48145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27ee71ff504474" /><Relationship Type="http://schemas.openxmlformats.org/officeDocument/2006/relationships/notesMaster" Target="/ppt/notesMasters/notesMaster1.xml" Id="R3cf54f77367d45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bc700e27e3436f" /><Relationship Type="http://schemas.openxmlformats.org/officeDocument/2006/relationships/notesMaster" Target="/ppt/notesMasters/notesMaster1.xml" Id="R75feeb394b2741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3087d0a3a141eb" /><Relationship Type="http://schemas.openxmlformats.org/officeDocument/2006/relationships/notesMaster" Target="/ppt/notesMasters/notesMaster1.xml" Id="R31a7d7f85e0943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92574bca0a4cb1" /><Relationship Type="http://schemas.openxmlformats.org/officeDocument/2006/relationships/notesMaster" Target="/ppt/notesMasters/notesMaster1.xml" Id="Rf55475b20ccc42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480bb8686c4b46" /><Relationship Type="http://schemas.openxmlformats.org/officeDocument/2006/relationships/notesMaster" Target="/ppt/notesMasters/notesMaster1.xml" Id="Re7d16b8954994f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b24fda7c034244" /><Relationship Type="http://schemas.openxmlformats.org/officeDocument/2006/relationships/notesMaster" Target="/ppt/notesMasters/notesMaster1.xml" Id="R6befbfecf20e4f8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12e97962364dcb" /><Relationship Type="http://schemas.openxmlformats.org/officeDocument/2006/relationships/notesMaster" Target="/ppt/notesMasters/notesMaster1.xml" Id="R800b27dd43454b7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2d531154854316" /><Relationship Type="http://schemas.openxmlformats.org/officeDocument/2006/relationships/notesMaster" Target="/ppt/notesMasters/notesMaster1.xml" Id="Re7709c0338db47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adf42125b234407" /><Relationship Type="http://schemas.openxmlformats.org/officeDocument/2006/relationships/notesMaster" Target="/ppt/notesMasters/notesMaster1.xml" Id="R731c1636651a4e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ParcelDesk and the assessment. Allow roughly 10–15 minutes including the live demo.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README.md; docs/ASSIGNMENT.md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both business rules and engineering expectations. The existing assignment asks for adaptable rules, reliable behavior and visible failures. Avoid claiming that a specific previous production system had incidents.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sources: docs/ASSIGNMENT.md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roles. Admin can perform intake but cannot approve insurance. All authoritative checks run on the server.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sources: server/routes/parcels.ts;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SQLite selection as a setup and transaction trade-off. This stack is not MERN because it does not use MongoDB. TypeScript types do not replace runtime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sources: package.json;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diagram shows logical responsibilities. Express services coordinate the pure domain functions and repositories. Domain functions do not write to the database.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server/domain.ts; server/services/intake.ts; docs/ARCHITECTURE.md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 weight 1, 1.001, 10 and 10.001 kg. Value exactly 1000 routes directly, while 1000.01 requires insurance. The configurable insurance threshold cannot exceed 1000.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server/domain.ts; tests/domain.test.ts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role themes and explain the single-admin constraint. The embedded image is a repository screenshot, not proof of a new live session. Existing demo staff credentials remain available on older installations.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sources: docs/screenshots/theme-admin.png; docs/FEATURE_WALKTHROUGH.md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Insurance review affects only a pending parcel. Preserve the original proposed department and policy version. Two competing reviews cannot both succeed.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server/routes/parcels.ts; tests/api.test.ts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Lower priorities run first. Each rule ANDs its conditions. Exactly one unconditional catch-all comes last. Impact preview uses at most the latest 5000 inputs and does not reroute historical parcels.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server/routes/policy.ts; server/domain.ts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atomic and partial modes using examples/explore-partial-import.json: two valid rows and three invalid rows. Use the same actor-scoped operation key for uncertain retries. A deliberately new import creates a new batch.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server/routes/imports.ts; server/services/intake.ts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Expected sample outcomes assume the default policy and confirmed NL fallback: 17 rows, 11 routed, six insurance holds. Duplicate input rows remain separate.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examples/Container_68465468.xml; docs/FEATURE_WALKTHROUGH.md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503 webhook needs configuration and makes bounded attempts. It has a five-second timeout and one-minute suppression. Independent monitoring and external delivery require operational setup. Request logs omit passwords, tokens and request bodies.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server/services/observability.ts; docs/OPERATIONS.md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scripts in package.json to show test evidence. The 75% line figure is a minimum gate, not measured coverage. Gates also include 70% functions and 65% branches. Benchmark uses 5000 rows locally and excludes network transport. CodeQL private-repository setup remains an owner prerequisite according to the recorded operations notes.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package.json; tests/; scripts/benchmark.ts; docs/OPERATIONS.md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actual contribution boundaries. User direction includes SQLite selection, requested UI/admin features, testing and logs. AI helped with design and implementation as well as tests and documentation.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docs/AI_USAGE.md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presenting, use Node 24, npm ci and npm run dev. Fresh demo admin password is Demo-admin-2026!. Create staff before switching roles. Import examples/explore-batch.json under default rules. Approve EXPLORE-08 only once. If the live service is unavailable, use the supplied walkthrough and describe expected results explicitly.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sources: docs/FEATURE_WALKTHROUGH.md; examples/explore-batch.json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Add attributes.fragile eq true at priority zero with department Special. Test weight 12, value 1200, country IN, fragile true: Special and pending_insurance. Keep the expected test, enter a reason, preview and activate. Load a prior version and repeat activation to roll back. Close with deployment limitations and questions.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Project sources: docs/FEATURE_WALKTHROUGH.md; docs/OPERATIONS.md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5a74cbadf418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1fd66a37714d64" /><Relationship Type="http://schemas.openxmlformats.org/officeDocument/2006/relationships/slideLayout" Target="/ppt/slideLayouts/slideLayout1.xml" Id="Rb6c236509ce541d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236509ce541d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5a6ca059949ef" /><Relationship Type="http://schemas.openxmlformats.org/officeDocument/2006/relationships/image" Target="/ppt/media/image.png" Id="R5907599b95374786" /><Relationship Type="http://schemas.openxmlformats.org/officeDocument/2006/relationships/notesSlide" Target="/ppt/notesSlides/notesSlide1.xml" Id="R11142abae1df44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958e267384b13" /><Relationship Type="http://schemas.openxmlformats.org/officeDocument/2006/relationships/notesSlide" Target="/ppt/notesSlides/notesSlide2.xml" Id="R0361c2e202234a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21e07001a47ad" /><Relationship Type="http://schemas.openxmlformats.org/officeDocument/2006/relationships/notesSlide" Target="/ppt/notesSlides/notesSlide3.xml" Id="Ra5ff731e386349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5be3ccf9e4247" /><Relationship Type="http://schemas.openxmlformats.org/officeDocument/2006/relationships/notesSlide" Target="/ppt/notesSlides/notesSlide4.xml" Id="Ref93951c456e49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fbbb053224654" /><Relationship Type="http://schemas.openxmlformats.org/officeDocument/2006/relationships/image" Target="/ppt/media/image2.png" Id="R275a573fa51a4b77" /><Relationship Type="http://schemas.openxmlformats.org/officeDocument/2006/relationships/image" Target="/ppt/media/image3.png" Id="R9c82c12b9e324e8d" /><Relationship Type="http://schemas.openxmlformats.org/officeDocument/2006/relationships/image" Target="/ppt/media/image4.png" Id="R993e254969414379" /><Relationship Type="http://schemas.openxmlformats.org/officeDocument/2006/relationships/image" Target="/ppt/media/image5.png" Id="R876497f29a9f4b48" /><Relationship Type="http://schemas.openxmlformats.org/officeDocument/2006/relationships/notesSlide" Target="/ppt/notesSlides/notesSlide5.xml" Id="Rcc6951dc9a7949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7b78bbd524af7" /><Relationship Type="http://schemas.openxmlformats.org/officeDocument/2006/relationships/image" Target="/ppt/media/image6.png" Id="Rbbdca5a058bb4391" /><Relationship Type="http://schemas.openxmlformats.org/officeDocument/2006/relationships/image" Target="/ppt/media/image7.png" Id="Re6fa4bee436148c5" /><Relationship Type="http://schemas.openxmlformats.org/officeDocument/2006/relationships/image" Target="/ppt/media/image8.png" Id="R4ce297a5c24d449e" /><Relationship Type="http://schemas.openxmlformats.org/officeDocument/2006/relationships/image" Target="/ppt/media/image9.png" Id="Rd5f2d1f3e2774600" /><Relationship Type="http://schemas.openxmlformats.org/officeDocument/2006/relationships/notesSlide" Target="/ppt/notesSlides/notesSlide6.xml" Id="Rdbca20c266e045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7a59f96634505" /><Relationship Type="http://schemas.openxmlformats.org/officeDocument/2006/relationships/image" Target="/ppt/media/image10.png" Id="R284cffb2c5a14938" /><Relationship Type="http://schemas.openxmlformats.org/officeDocument/2006/relationships/notesSlide" Target="/ppt/notesSlides/notesSlide7.xml" Id="Rdedecc52a59940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298fb21d344ce" /><Relationship Type="http://schemas.openxmlformats.org/officeDocument/2006/relationships/image" Target="/ppt/media/image11.png" Id="R48a6987f9cd3421a" /><Relationship Type="http://schemas.openxmlformats.org/officeDocument/2006/relationships/image" Target="/ppt/media/image12.png" Id="R68a6d18d9c7b4c92" /><Relationship Type="http://schemas.openxmlformats.org/officeDocument/2006/relationships/image" Target="/ppt/media/image13.png" Id="R6e3a71ef63874856" /><Relationship Type="http://schemas.openxmlformats.org/officeDocument/2006/relationships/notesSlide" Target="/ppt/notesSlides/notesSlide8.xml" Id="Ra06d5f311abb41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0809997d44ee9" /><Relationship Type="http://schemas.openxmlformats.org/officeDocument/2006/relationships/image" Target="/ppt/media/image14.png" Id="Reef81a8dfcf14af1" /><Relationship Type="http://schemas.openxmlformats.org/officeDocument/2006/relationships/notesSlide" Target="/ppt/notesSlides/notesSlide9.xml" Id="Rb4892cda434347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9cacb8fdd490a" /><Relationship Type="http://schemas.openxmlformats.org/officeDocument/2006/relationships/image" Target="/ppt/media/image15.png" Id="Rdfe50ff2d5e44a73" /><Relationship Type="http://schemas.openxmlformats.org/officeDocument/2006/relationships/image" Target="/ppt/media/image16.png" Id="R867a03648241468f" /><Relationship Type="http://schemas.openxmlformats.org/officeDocument/2006/relationships/image" Target="/ppt/media/image17.png" Id="R81fa9fe0a5cd4ff6" /><Relationship Type="http://schemas.openxmlformats.org/officeDocument/2006/relationships/notesSlide" Target="/ppt/notesSlides/notesSlide10.xml" Id="Rfebbb8cb9e114e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22dedad644828" /><Relationship Type="http://schemas.openxmlformats.org/officeDocument/2006/relationships/chart" Target="/ppt/slides/charts/chart1.xml" Id="Rd8ab8045970d4e38" /><Relationship Type="http://schemas.openxmlformats.org/officeDocument/2006/relationships/image" Target="/ppt/media/image18.png" Id="R3cc724eb70e64057" /><Relationship Type="http://schemas.openxmlformats.org/officeDocument/2006/relationships/image" Target="/ppt/media/image19.png" Id="R5eea367731164758" /><Relationship Type="http://schemas.openxmlformats.org/officeDocument/2006/relationships/notesSlide" Target="/ppt/notesSlides/notesSlide11.xml" Id="R666f09d297e445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1c50fe9724ee9" /><Relationship Type="http://schemas.openxmlformats.org/officeDocument/2006/relationships/image" Target="/ppt/media/image20.png" Id="Rb0315555a1b1437c" /><Relationship Type="http://schemas.openxmlformats.org/officeDocument/2006/relationships/image" Target="/ppt/media/image21.png" Id="R6dae5f1705cb4a33" /><Relationship Type="http://schemas.openxmlformats.org/officeDocument/2006/relationships/image" Target="/ppt/media/image22.png" Id="R43305839fa2c407b" /><Relationship Type="http://schemas.openxmlformats.org/officeDocument/2006/relationships/image" Target="/ppt/media/image23.png" Id="R228aa9b61024428f" /><Relationship Type="http://schemas.openxmlformats.org/officeDocument/2006/relationships/image" Target="/ppt/media/image24.png" Id="R0e5bbd2defb24f80" /><Relationship Type="http://schemas.openxmlformats.org/officeDocument/2006/relationships/image" Target="/ppt/media/image25.png" Id="R97010fd52d3a415d" /><Relationship Type="http://schemas.openxmlformats.org/officeDocument/2006/relationships/image" Target="/ppt/media/image26.png" Id="R19364971789c458f" /><Relationship Type="http://schemas.openxmlformats.org/officeDocument/2006/relationships/image" Target="/ppt/media/image27.png" Id="R6bc02aff82024cfb" /><Relationship Type="http://schemas.openxmlformats.org/officeDocument/2006/relationships/notesSlide" Target="/ppt/notesSlides/notesSlide12.xml" Id="Rebdb1cc70aa64e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c3668c114684" /><Relationship Type="http://schemas.openxmlformats.org/officeDocument/2006/relationships/image" Target="/ppt/media/image28.png" Id="R863c6b797a854b3c" /><Relationship Type="http://schemas.openxmlformats.org/officeDocument/2006/relationships/notesSlide" Target="/ppt/notesSlides/notesSlide13.xml" Id="R531ff59fc05b48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00a6e3ea64e05" /><Relationship Type="http://schemas.openxmlformats.org/officeDocument/2006/relationships/image" Target="/ppt/media/image29.png" Id="Rfcc4344b969c442a" /><Relationship Type="http://schemas.openxmlformats.org/officeDocument/2006/relationships/image" Target="/ppt/media/image30.png" Id="R29e5b3b613354037" /><Relationship Type="http://schemas.openxmlformats.org/officeDocument/2006/relationships/image" Target="/ppt/media/image31.png" Id="R3c57de51fcfa40c2" /><Relationship Type="http://schemas.openxmlformats.org/officeDocument/2006/relationships/notesSlide" Target="/ppt/notesSlides/notesSlide14.xml" Id="Rea3d74ca0ceb4d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b761c4c8141a1" /><Relationship Type="http://schemas.openxmlformats.org/officeDocument/2006/relationships/notesSlide" Target="/ppt/notesSlides/notesSlide15.xml" Id="R57343e3b320944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8027d942746b7" /><Relationship Type="http://schemas.openxmlformats.org/officeDocument/2006/relationships/image" Target="/ppt/media/image32.png" Id="R2c365a2a1d884f5e" /><Relationship Type="http://schemas.openxmlformats.org/officeDocument/2006/relationships/image" Target="/ppt/media/image33.png" Id="Racc3600ebb5c4c31" /><Relationship Type="http://schemas.openxmlformats.org/officeDocument/2006/relationships/image" Target="/ppt/media/image34.png" Id="R0d0de0ccccbd4058" /><Relationship Type="http://schemas.openxmlformats.org/officeDocument/2006/relationships/image" Target="/ppt/media/image35.png" Id="Rcd5760516ede42f4" /><Relationship Type="http://schemas.openxmlformats.org/officeDocument/2006/relationships/notesSlide" Target="/ppt/notesSlides/notesSlide16.xml" Id="Rf0c7c9cea50d4558" /></Relationships>
</file>

<file path=ppt/slides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../embeddings/Microsoft_Excel_Worksheet1.xlsx"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430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430"/>
                </a:solidFill>
                <a:latin typeface="Calibri"/>
              </a:rPr>
              <a:t>Outcome of the 17 parcels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Parcels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300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Routed</c:v>
                </c:pt>
                <c:pt idx="1">
                  <c:v>Awaiting insurance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4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6E3B597-F0C5-48E9-A8EE-AA5C10F0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D1B2A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185BA2-75E2-4C35-98C0-03A78FBC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777240"/>
            <a:ext cx="777240" cy="777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73D"/>
          </a:solidFill>
        </p:spPr>
      </p:sp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7599b953747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840" y="9601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72F234C-67C8-4C66-91B3-B67C66C6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300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PARCELDESK</a:t>
            </a:r>
            <a:endParaRPr sz="13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46067EB-9FB2-4638-8E01-F9809391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86868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4600"/>
              </a:lnSpc>
              <a:buNone/>
            </a:pPr>
            <a:r>
              <a:rPr sz="4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Parcel routing</a:t>
            </a:r>
            <a:endParaRPr sz="4200"/>
          </a:p>
          <a:p xmlns:a="http://schemas.openxmlformats.org/drawingml/2006/main">
            <a:pPr marL="0" indent="0">
              <a:lnSpc>
                <a:spcPts val="4600"/>
              </a:lnSpc>
              <a:buNone/>
            </a:pPr>
            <a:r>
              <a:rPr sz="4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controlled rule changes</a:t>
            </a:r>
            <a:endParaRPr sz="42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C10E910-B5D3-48D4-BFB2-3EFA35D4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8229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50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React and TypeScript application for intake, insurance review</a:t>
            </a:r>
            <a:endParaRPr sz="1500"/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500">
                <a:solidFill>
                  <a:srgbClr val="B8C4D4"/>
                </a:solidFill>
                <a:latin typeface="Calibri"/>
                <a:ea typeface="Calibri"/>
                <a:cs typeface="Calibri"/>
              </a:rPr>
              <a:t>and versioned routing policies.</a:t>
            </a:r>
            <a:endParaRPr sz="15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4CF70D4-2025-48E8-BD36-417DD31B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5074920"/>
            <a:ext cx="320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20DA758-7465-4427-839E-24A8094E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1208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Abhay Kumar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EE0B56B-1048-4E80-AF10-AD027527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321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Technical assessment / 10–15 minute walkthrough</a:t>
            </a:r>
            <a:endParaRPr sz="11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3B77F62-8AFE-4474-920C-5A690254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01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274268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B233B1-3697-4C96-9BE5-3C428AEF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BF67E-C7C1-46DA-BED9-5B249CB9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Modernize an internal parcel-routing system that must adapt to business changes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24D4C-6A9A-40AC-9B69-9A200000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Required behavior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528BC-6532-4F20-B870-1A6CCD1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Route parcels by weight</a:t>
            </a:r>
          </a:p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Hold high-value parcels for insurance</a:t>
            </a:r>
          </a:p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Accept individual entries and JSON/XML batches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26C97-D409-4DC7-82F4-019D6DD4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Engineering challenges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785F2-AEA3-496D-945D-18D85311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4857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Change rules without breaking known cases</a:t>
            </a:r>
          </a:p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Recover safely from failed submissions</a:t>
            </a:r>
          </a:p>
          <a:p xmlns:a="http://schemas.openxmlformats.org/drawingml/2006/main">
            <a:pPr>
              <a:defRPr sz="20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Explain decisions and investigate anomalies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DB95F-2349-47E0-9E2A-46FF41C6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The assignment also requires tests, security measures, documentation and a working demo.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E3F0-A8EF-4444-8C2B-5698D364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02  /  PARCELDESK</a:t>
            </a:r>
          </a:p>
        </p:txBody>
      </p:sp>
    </p:spTree>
    <p:extLst>
      <p:ext uri="{BB962C8B-B14F-4D97-AF65-F5344CB8AC3E}">
        <p14:creationId xmlns:p14="http://schemas.microsoft.com/office/powerpoint/2010/main" val="18334700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861E8-84EA-4EFE-BA1D-B95C3486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Proposed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41600-FB5A-44D2-8E35-5B760839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One web application with separate operator, insurer and administrator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3F831-1AF3-4C4F-B8C2-4A0AED8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4A300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C1F50-FCC2-46E2-A47C-0BFF4694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526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Operator intake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132BF-F2E5-4EB2-8B02-13486A78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752600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Enter a parcel or preview and confirm a batch.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CECD0-0E71-4E6B-AC0E-1ECAC6D4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4A300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867A3E-DC93-40C2-B514-E4B880C8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241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Routing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34561-24CD-4B62-9592-F4FA937F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24150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Apply validated rules and check the insurance threshold.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748E4-3F58-40F3-920B-D76054E4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4A300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256AF-0DF3-4868-AEA5-604C94D5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Insurer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1FB49-A5A3-493B-9AD9-F80A9893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Approve or reject held parcels with a recorded reason.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D44AE-EFF2-4B1C-B26E-AE19D2CC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57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4A300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4DCFA-A6CC-4A5C-BF38-404B11D7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Admin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1AC88C-FF47-4738-B45E-F481C4BC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667250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Manage policy versions, staff access and audit records.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CC184-6B37-492E-9EA3-AA08A5DE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03  /  PARCELDESK</a:t>
            </a:r>
          </a:p>
        </p:txBody>
      </p:sp>
    </p:spTree>
    <p:extLst>
      <p:ext uri="{BB962C8B-B14F-4D97-AF65-F5344CB8AC3E}">
        <p14:creationId xmlns:p14="http://schemas.microsoft.com/office/powerpoint/2010/main" val="1132484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8525A-831E-4961-9F84-893C80E1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Technology stack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80540-73BE-4A7B-957C-C388EE31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 TypeScript application with a local transactional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00505-313A-4A65-ADEE-C0C4F961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AA7DE-1999-4B46-AF0E-539D1D20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954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Why it fits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B19AD-8600-4327-B084-E59C7CE1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Trade-off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93C85-B1FF-486D-ADF7-971B318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57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React + TypeScript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056E9-1014-4926-9999-C7B8514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57425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Reusable UI and shared types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62B66-84C7-4597-9C1C-F6BB778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574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Runtime validation still checks untrusted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BD614-FD2D-44EA-9DC6-DDF511D3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Node.js 24 + Express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A2436-827D-4B79-8B90-0083B8B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19425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One language across client and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92AD9-BE06-4A7B-AE2A-5ECF8CCF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194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Bound synchronous work to protect responsiveness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4A027-26A5-4A3C-A403-CDBEC8AE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SQLite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430451-6FE9-4B42-BE9D-ACD01F5B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81425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Simple setup and atomic writes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7E5A2-7B31-48B7-A6E4-C6B128C6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814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Single-process scope limits horizontal scaling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D0BDA-BA57-44F3-9DD4-A3A95A77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decimal.js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5C443-2E5C-483C-AAB4-995D0428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43425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Exact weight and money comparisons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112D35-1E7F-414A-AABD-C6077DDA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434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Store normalized decimal strings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46EAE7-05C6-4F6A-A06E-CE1EC9A2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05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Vite + test tooling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9FCCC7-F59F-4DB3-AA5D-8A4BC7D3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05425"/>
            <a:ext cx="366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Fast development and repeatable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ED3CD8-D037-4ED9-8554-EB65EF08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05425"/>
            <a:ext cx="3667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Tests cover selected behavior, not every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F47826-12A7-4D6B-9B8A-CA3CA6B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04  /  PARCELDESK</a:t>
            </a:r>
          </a:p>
        </p:txBody>
      </p:sp>
    </p:spTree>
    <p:extLst>
      <p:ext uri="{BB962C8B-B14F-4D97-AF65-F5344CB8AC3E}">
        <p14:creationId xmlns:p14="http://schemas.microsoft.com/office/powerpoint/2010/main" val="13595171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2FC992-1CAC-4FF5-A1C2-1E009E1C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Application architecture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094607-C2E7-478D-8C7E-5B1A7E90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React interface, Express API, routing functions and SQLite persistence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354ADDD-AE20-4D0B-8418-10B5C3FE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2395728" cy="2834640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1B3A5C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D2698F6-E42A-42D6-B721-A363C864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4884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73D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a573fa51a4b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79717" y="2329525"/>
            <a:ext cx="333573" cy="333573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287930F-D9EE-432F-8E46-82BF7176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7520"/>
            <a:ext cx="21214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 UI</a:t>
            </a:r>
            <a:endParaRPr sz="15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1EAB390-0728-46DF-870A-27CED41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29000"/>
            <a:ext cx="2029968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Operators, insurers and admins see and submit data.</a:t>
            </a:r>
            <a:endParaRPr sz="11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5BCDEE0-3703-42F5-90B5-D2BDFF0B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191256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63A9A3C-38D3-480D-B25E-E9C5F452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828800"/>
            <a:ext cx="2395728" cy="2834640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415A77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7E803C4-F8E1-4F0D-AFF9-728990F8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792" y="214884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73D"/>
          </a:solidFill>
        </p:spPr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2c12b9e324e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1477" y="2329525"/>
            <a:ext cx="333573" cy="333573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14A3E98-142D-4ED9-A135-B994B260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017520"/>
            <a:ext cx="21214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Express API</a:t>
            </a:r>
            <a:endParaRPr sz="15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41800F9-FB89-4DE0-B7EF-A2770CF1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429000"/>
            <a:ext cx="2029968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Checks who you are and what you're allowed to do.</a:t>
            </a:r>
            <a:endParaRPr sz="115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49F091CC-CFA3-4E39-B826-5144F7D3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191256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CE85082-7592-4AE8-B19F-9782F83E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828800"/>
            <a:ext cx="2395728" cy="2834640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1B3A5C"/>
          </a:solidFill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593A1877-E51A-498D-84F3-C8F317BD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214884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73D"/>
          </a:solidFill>
        </p:spPr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e2549694143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3237" y="2329525"/>
            <a:ext cx="333573" cy="333573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DF22885-E8D1-400E-A33A-A2F32F7C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017520"/>
            <a:ext cx="21214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Routing logic</a:t>
            </a:r>
            <a:endParaRPr sz="15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797A2C79-66C5-475E-A82C-1664161E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429000"/>
            <a:ext cx="2029968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Validates inputs and applies ordered rules.</a:t>
            </a:r>
            <a:endParaRPr sz="115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B84334E4-A98D-476F-BCDB-4C19CAC4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91256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FF8F63BF-F997-4F39-873E-86194C13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28800"/>
            <a:ext cx="2395728" cy="2834640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415A77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DA48CF84-6BFB-45A8-9E47-A07985E8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14884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73D"/>
          </a:solidFill>
        </p:spPr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497f29a9f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34997" y="2329525"/>
            <a:ext cx="333573" cy="333573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E54CE16A-28ED-4DF6-8BD2-CB2BAD03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017520"/>
            <a:ext cx="21214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SQLite</a:t>
            </a:r>
            <a:endParaRPr sz="15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BEBA45C3-215E-44EF-B98C-F823C866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29000"/>
            <a:ext cx="2029968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Saves the decision and the evidence together.</a:t>
            </a:r>
            <a:endParaRPr sz="115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FD7B7E0E-6920-47AC-A24D-E7BB591B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3480"/>
            <a:ext cx="10881360" cy="105156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2C1DB750-F849-44F5-AB23-6CA620C0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83480"/>
            <a:ext cx="10241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The service layer coordinates routing and storage. Pure routing functions stay independent of the database and network.</a:t>
            </a:r>
            <a:endParaRPr sz="130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85841C98-C6B6-4149-BE6A-5400E5B2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05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060347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284BFF-A92D-4A74-91A9-FF8393BD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Default routing rules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A36716-269E-4874-8050-DD888A9C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9144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Weight selects a department. Value determines whether insurance review is needed.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2E57CD6-AF9E-4C98-91DB-7A0338AC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415A77"/>
                </a:solidFill>
                <a:latin typeface="Calibri"/>
                <a:ea typeface="Calibri"/>
                <a:cs typeface="Calibri"/>
              </a:rPr>
              <a:t>1.  WEIGHT SETS THE DEPARTMENT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F70917E-9A0B-4368-8069-1C950AA1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2331720" cy="18288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2000"/>
              </a:srgbClr>
            </a:outerShdw>
          </a:effectLst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52F125-D3CE-441D-BACA-5DC51DE1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" y="224028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5a058bb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38935" y="2430475"/>
            <a:ext cx="351130" cy="351130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8E54FBD-C11A-4ED4-99A7-D9687C88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2331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Mail</a:t>
            </a:r>
            <a:endParaRPr sz="15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26B4A12-8EB1-434D-BB5A-2CDAD7F4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 &lt; weight ≤ 1 kg</a:t>
            </a:r>
            <a:endParaRPr sz="12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F37D9E1-3E47-4088-8F44-FC2A31D3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2825496"/>
            <a:ext cx="356616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3F09746-A923-45C4-B4AB-D8C09B5A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965960"/>
            <a:ext cx="2331720" cy="18288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2000"/>
              </a:srgbClr>
            </a:outerShdw>
          </a:effectLst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6BD5519-25D9-4AD3-9AFB-578A38E9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380" y="224028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a4bee4361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73575" y="2430475"/>
            <a:ext cx="351130" cy="35113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CF32F3D-1DA3-4F6C-A6A6-BBAEB397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108960"/>
            <a:ext cx="2331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Regular</a:t>
            </a:r>
            <a:endParaRPr sz="15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037476F-77F8-43E4-8061-CA9B21EE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42900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 &lt; weight ≤ 10 kg</a:t>
            </a:r>
            <a:endParaRPr sz="12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84F87CB-588C-457E-AF04-11DD98AD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825496"/>
            <a:ext cx="356616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905961E-1CA7-4B2F-BBAF-4108F286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965960"/>
            <a:ext cx="2331720" cy="18288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2000"/>
              </a:srgbClr>
            </a:outerShdw>
          </a:effectLst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54FDC46-BCD9-416E-8511-9917759B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8020" y="224028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297a5c24d44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8215" y="2430475"/>
            <a:ext cx="351130" cy="351130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B3B35108-07A3-4B70-9D3C-6D333CC2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08960"/>
            <a:ext cx="2331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Heavy</a:t>
            </a:r>
            <a:endParaRPr sz="150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A9863BA6-6BC1-4E61-9843-BB3B8054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42900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over 10 kg</a:t>
            </a:r>
            <a:endParaRPr sz="12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428A7838-CC29-43AB-B312-7EA612ED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415A77"/>
                </a:solidFill>
                <a:latin typeface="Calibri"/>
                <a:ea typeface="Calibri"/>
                <a:cs typeface="Calibri"/>
              </a:rPr>
              <a:t>2.  HIGH VALUE NEEDS APPROVAL</a:t>
            </a:r>
            <a:endParaRPr sz="1200"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273AD677-AD50-4579-9DEC-ECFAE2A8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10515600" cy="1371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B3A5C"/>
          </a:solidFill>
        </p:spPr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D7A9894C-8474-4FA9-82CD-23659779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4632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2d1f3e27746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8875" y="5036515"/>
            <a:ext cx="351130" cy="351130"/>
          </a:xfrm>
          <a:prstGeom xmlns:a="http://schemas.openxmlformats.org/drawingml/2006/main" prst="rect">
            <a:avLst/>
          </a:prstGeom>
        </p:spPr>
      </p:pic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A92F05F-0BB7-4ADB-BADF-394A0B0B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0916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Value over €1,000 requires review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29E3B54-0A2B-48B5-8507-9AA0D762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6636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Only an insurer can approve or reject a pending parcel.</a:t>
            </a:r>
            <a:endParaRPr sz="1250"/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91765418-0568-48E6-9085-036FFE09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06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313554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869DB-C753-4721-8CA3-D0355609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Features by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52CF-9A06-48C9-B8A8-5F8F1409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Role themes improve navigation. API permissions enforce access.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88AF4-2385-4CDC-A7AB-8DB58AFA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563EB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563EB"/>
                </a:solidFill>
                <a:latin typeface="Calibri"/>
                <a:ea typeface="Calibri"/>
                <a:cs typeface="Calibri"/>
              </a:rPr>
              <a:t>Operator / blue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53990-28FD-4C8A-845B-A5C501BC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33625"/>
            <a:ext cx="4143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Single intake and batch preview</a:t>
            </a:r>
          </a:p>
          <a:p xmlns:a="http://schemas.openxmlformats.org/drawingml/2006/main">
            <a:pPr>
              <a:defRPr sz="1800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Batch history, filters and CSV exports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E7712-EFF4-4057-884F-885AE2A4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F766E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Insurer / teal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65BF3-1054-4D18-9F0E-B7F69BF8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4095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Insurance queue and review reasons</a:t>
            </a:r>
          </a:p>
          <a:p xmlns:a="http://schemas.openxmlformats.org/drawingml/2006/main">
            <a:pPr>
              <a:defRPr sz="1800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Approval releases a held parcel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50CD6D-5D19-407C-972D-A855B956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3AED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Admin / violet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32AE4-81CD-41A4-818B-CBD90FB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4191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Policies, staff accounts and audit</a:t>
            </a:r>
          </a:p>
          <a:p xmlns:a="http://schemas.openxmlformats.org/drawingml/2006/main">
            <a:pPr>
              <a:defRPr sz="1725" b="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One admin, multiple staff accounts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cffb2c5a14938"/>
          <a:stretch xmlns:a="http://schemas.openxmlformats.org/drawingml/2006/main"/>
        </p:blipFill>
        <p:spPr>
          <a:xfrm xmlns:a="http://schemas.openxmlformats.org/drawingml/2006/main">
            <a:off x="6248616" y="1714500"/>
            <a:ext cx="4266767" cy="41719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CD849-1743-4759-8603-2F366AEF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07  /  PARCELDESK</a:t>
            </a:r>
          </a:p>
        </p:txBody>
      </p:sp>
    </p:spTree>
    <p:extLst>
      <p:ext uri="{BB962C8B-B14F-4D97-AF65-F5344CB8AC3E}">
        <p14:creationId xmlns:p14="http://schemas.microsoft.com/office/powerpoint/2010/main" val="9791547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7B4BF7-BE2C-4B6B-8207-EAF3C237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Insurance review workflow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FBAE06-4434-43C1-AFF8-9B14C4BF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Separate role permissions control intake and insurance decisions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039E4EB-9502-4313-93A4-3BE44E1B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260604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0B2EDFC-A955-4FDA-A8B9-B1EEEBF2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" y="224028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6987f9cd3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54150" y="245425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6CFD352-C033-46A3-BF61-2B935F92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Operator submits</a:t>
            </a:r>
            <a:endParaRPr sz="13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4A3C950-D78B-452F-B8FB-5E2063DA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1188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Parcel over €1,000 enters the queue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420BA35-D202-450A-B800-F25C4139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832" y="3008376"/>
            <a:ext cx="356616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99F6DB5-4D8A-43E1-9C54-64B0BA1B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20240"/>
            <a:ext cx="260604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1DE851-FB67-419C-A4A3-4C8493D9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9140" y="224028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300"/>
          </a:solidFill>
        </p:spPr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6d18d9c7b4c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3110" y="245425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725046B-D647-4FBA-918D-90BE3AF6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3246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Held for review</a:t>
            </a:r>
            <a:endParaRPr sz="13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3240CAE-DB9C-4DA3-8F65-7F8C5BAF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361188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Nobody can route it yet</a:t>
            </a:r>
            <a:endParaRPr sz="105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62ECC046-35A7-4140-BF6F-3E9DF3B1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008376"/>
            <a:ext cx="356616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28529C2-D007-404C-B6EB-025620A4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920240"/>
            <a:ext cx="260604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C6A0EA0-69FC-44B2-B724-D1EF8D41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4028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5A77"/>
          </a:solidFill>
        </p:spPr>
      </p:sp>
      <p:pic>
        <p:nvPicPr>
          <p:cNvPr id="4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a71ef638748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72070" y="245425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BD1F1C70-506F-439E-AEDE-4BB9148F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46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Insurer decides</a:t>
            </a:r>
            <a:endParaRPr sz="13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E0CFC309-F3C0-4C24-9657-7182BCD4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361188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Approve or reject, with a reason</a:t>
            </a:r>
            <a:endParaRPr sz="105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515C3E59-9C30-4CC5-B8BF-798877CB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240280"/>
            <a:ext cx="169164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4EC"/>
          </a:solidFill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38324BCB-C9FF-4DA5-B49C-EA4CF567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240280"/>
            <a:ext cx="1691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✓  Routed</a:t>
            </a:r>
            <a:endParaRPr sz="1100"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57C28634-BDED-4351-90BB-90CE1593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880360"/>
            <a:ext cx="169164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9E7"/>
          </a:solidFill>
        </p:spPr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ABD9FE4C-9042-48DD-B7E0-0D519792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880360"/>
            <a:ext cx="1691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✕  Rejected</a:t>
            </a:r>
            <a:endParaRPr sz="1100"/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51AEA4FA-A5C1-4365-8D3B-3EADE1BB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6888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A"/>
            </a:solidFill>
            <a:prstDash val="solid"/>
          </a:ln>
        </p:spPr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1D92C67C-9E6B-427D-906E-966FF705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0896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A"/>
            </a:solidFill>
            <a:prstDash val="solid"/>
          </a:ln>
        </p:spPr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32D9214A-1846-495F-B533-5DACACAD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1088136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3DA4E507-FCD1-4305-B225-6852FE7A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1024128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The database keeps the original policy version and reviewer reason. Competing reviews cannot both succeed.</a:t>
            </a:r>
            <a:endParaRPr sz="1300"/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8474847F-9B35-498C-BFC8-4C2E0547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08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755367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90A232D-FDE9-4F93-9528-C7039030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Policy editing and safe activation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30ABBF-C2AA-46BF-B775-B58616D1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Structured rules, saved examples and a version-bound impact preview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FFA9DF-AC38-4446-A543-517BFD26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2395728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BB1ED2D-F627-417D-B12C-35354A59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64" y="20574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6E3008-5C19-423A-8F1B-8704C646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64" y="20574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4A300"/>
                </a:solidFill>
                <a:latin typeface="Cambria"/>
                <a:ea typeface="Cambria"/>
                <a:cs typeface="Cambria"/>
              </a:rPr>
              <a:t>1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4F84CCB-280C-4508-9661-27E19812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21214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Edit</a:t>
            </a:r>
            <a:endParaRPr sz="14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B0139EC-9F49-4A21-9382-A507F66A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0400"/>
            <a:ext cx="202996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Add or change a rule in the visual editor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07AF04C-06EE-4598-8F21-852F4359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295144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A36F76-E9CE-40F2-8F3E-B5BD0C9E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83080"/>
            <a:ext cx="2395728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E9E1D08-BE6F-4AC4-B968-B6629164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0574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4540160-0FF8-4875-A922-55C65640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0574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4A300"/>
                </a:solidFill>
                <a:latin typeface="Cambria"/>
                <a:ea typeface="Cambria"/>
                <a:cs typeface="Cambria"/>
              </a:rPr>
              <a:t>2</a:t>
            </a:r>
            <a:endParaRPr sz="2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FF53B2E-AD7E-43A6-B30A-2C5108C8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834640"/>
            <a:ext cx="21214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Test</a:t>
            </a:r>
            <a:endParaRPr sz="14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91F8D5E-F41A-49CD-BE8E-6926BA45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200400"/>
            <a:ext cx="202996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Check it against saved example parcels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3CA44EC-B0ED-4CF7-B3D3-51FE860B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295144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22E0AFA-8E6C-43B5-9A74-3C3E3CC6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83080"/>
            <a:ext cx="2395728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0D1A874-1C7E-400D-967A-60472076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20574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1E58A1F-FDFE-4E5A-BFBC-80FF7715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20574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4A300"/>
                </a:solidFill>
                <a:latin typeface="Cambria"/>
                <a:ea typeface="Cambria"/>
                <a:cs typeface="Cambria"/>
              </a:rPr>
              <a:t>3</a:t>
            </a:r>
            <a:endParaRPr sz="2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8176327-2681-4126-91EB-4C83F651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834640"/>
            <a:ext cx="21214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Preview</a:t>
            </a:r>
            <a:endParaRPr sz="14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B4682D2-F41E-4A7D-9D41-24475AF2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00400"/>
            <a:ext cx="202996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Compare up to the latest 5,000 inputs</a:t>
            </a:r>
            <a:endParaRPr sz="11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F73AB46-39DC-4D98-8DBD-126E260F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295144"/>
            <a:ext cx="201168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E3EA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E5A9C44-046B-4121-9EA4-E154C697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783080"/>
            <a:ext cx="2395728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6B7BB47-2107-44BF-A25F-CDB6D0E1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20574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B91E171-510E-4F38-8FBD-008CE69B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20574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4A300"/>
                </a:solidFill>
                <a:latin typeface="Cambria"/>
                <a:ea typeface="Cambria"/>
                <a:cs typeface="Cambria"/>
              </a:rPr>
              <a:t>4</a:t>
            </a:r>
            <a:endParaRPr sz="2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776486B-B9F1-45EC-8217-D7EF6E6D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834640"/>
            <a:ext cx="21214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Activate</a:t>
            </a:r>
            <a:endParaRPr sz="14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E3B5FA9-8E1A-4E7A-A96E-62BEE064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00400"/>
            <a:ext cx="202996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Append a new policy version</a:t>
            </a:r>
            <a:endParaRPr sz="1100"/>
          </a:p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81a8dfcf14a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ADBECBB4-581A-40D1-AA05-F908529C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187952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Rollback appends a version. Existing parcel decisions remain unchanged.</a:t>
            </a:r>
            <a:endParaRPr sz="1250"/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3DE2AD7-1C26-4236-9ED7-36A56421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1088136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53D0AB5-CC52-47B0-87CE-852DB97C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1024128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The server rejects stale previews and failing saved tests. Activation requires a reason of at least ten characters.</a:t>
            </a:r>
            <a:endParaRPr sz="13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65C1BC2-D99E-438B-9E8B-EBBABDA6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09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9910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BD9B9B7-47C1-453F-B4D0-09DA9F451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Batch validation and retry safety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DADD4C-7098-4AF2-8137-191A95CE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Import limit: 2 MiB and 5,000 rows per file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28CC0-B721-43CD-942D-44E37D2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166360" cy="4572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0375E75-C08A-4F39-A1BA-0DAAC8A1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AD1"/>
          </a:solidFill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50ff2d5e44a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9264" y="1929384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0D80D8C-F938-48F7-AB9B-71E148B5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28800"/>
            <a:ext cx="3886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 batch file has bad rows</a:t>
            </a:r>
            <a:endParaRPr sz="1600"/>
          </a:p>
        </p:txBody>
      </p:sp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26517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9B80B19-254A-444E-BB21-AF247E0E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587752"/>
            <a:ext cx="4069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Validate each row before committing the batch</a:t>
            </a:r>
            <a:endParaRPr sz="13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3429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8E3F4FB8-C583-4BD4-BBE7-0AD99228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64992"/>
            <a:ext cx="4069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Standard mode: one bad row blocks the whole file</a:t>
            </a:r>
            <a:endParaRPr sz="13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7A5F97E1-5CE0-47F5-B353-E40E81CD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42232"/>
            <a:ext cx="4069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Partial mode saves valid rows after preview</a:t>
            </a:r>
            <a:endParaRPr sz="13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4983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8">
            <a:extLst xmlns:a="http://schemas.openxmlformats.org/drawingml/2006/main">
              <a:ext uri="{FF2B5EF4-FFF2-40B4-BE49-F238E27FC236}">
                <a16:creationId xmlns:a16="http://schemas.microsoft.com/office/drawing/2014/main" id="{AF86A42A-049B-40C9-BFF5-807ADD20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9472"/>
            <a:ext cx="4069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 CSV lists exactly which rows failed, and why</a:t>
            </a:r>
            <a:endParaRPr sz="1300"/>
          </a:p>
        </p:txBody>
      </p:sp>
      <p:sp>
        <p:nvSpPr>
          <p:cNvPr id="16" name="Shape 9">
            <a:extLst xmlns:a="http://schemas.openxmlformats.org/drawingml/2006/main">
              <a:ext uri="{FF2B5EF4-FFF2-40B4-BE49-F238E27FC236}">
                <a16:creationId xmlns:a16="http://schemas.microsoft.com/office/drawing/2014/main" id="{6BB7E2BF-BF81-4CB8-99B5-7C948FD2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508760"/>
            <a:ext cx="5623560" cy="4572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17" name="Shape 10">
            <a:extLst xmlns:a="http://schemas.openxmlformats.org/drawingml/2006/main">
              <a:ext uri="{FF2B5EF4-FFF2-40B4-BE49-F238E27FC236}">
                <a16:creationId xmlns:a16="http://schemas.microsoft.com/office/drawing/2014/main" id="{CDDA6100-328A-44D2-842C-3F566DC8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AD1"/>
          </a:solidFill>
        </p:spPr>
      </p:sp>
      <p:pic>
        <p:nvPicPr>
          <p:cNvPr id="5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a9fe0a5cd4f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9944" y="1929384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1BF22825-9321-49FA-868A-1E6F91D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28800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The network drops mid-request</a:t>
            </a:r>
            <a:endParaRPr sz="1600"/>
          </a:p>
        </p:txBody>
      </p:sp>
      <p:pic>
        <p:nvPicPr>
          <p:cNvPr id="5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26517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F6F0C858-57AF-45AF-AF15-110697EC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87752"/>
            <a:ext cx="4526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The UI sends an operation key with intake</a:t>
            </a:r>
            <a:endParaRPr sz="1300"/>
          </a:p>
        </p:txBody>
      </p:sp>
      <p:pic>
        <p:nvPicPr>
          <p:cNvPr id="5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3429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CF947B3D-62FD-4CD3-B175-C70A3F11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364992"/>
            <a:ext cx="4526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Retrying with the same key returns the original result</a:t>
            </a:r>
            <a:endParaRPr sz="1300"/>
          </a:p>
        </p:txBody>
      </p:sp>
      <p:pic>
        <p:nvPicPr>
          <p:cNvPr id="61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D8BCB6B9-EB61-4DED-8F0B-B073B694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142232"/>
            <a:ext cx="4526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Parcels, audit and retry receipt commit together</a:t>
            </a:r>
            <a:endParaRPr sz="1300"/>
          </a:p>
        </p:txBody>
      </p:sp>
      <p:pic>
        <p:nvPicPr>
          <p:cNvPr id="6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a0364824146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4983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7" name="Text 15">
            <a:extLst xmlns:a="http://schemas.openxmlformats.org/drawingml/2006/main">
              <a:ext uri="{FF2B5EF4-FFF2-40B4-BE49-F238E27FC236}">
                <a16:creationId xmlns:a16="http://schemas.microsoft.com/office/drawing/2014/main" id="{D49F4227-1DBE-4915-BDBC-2D3F76AC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919472"/>
            <a:ext cx="4526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 new key starts a new operation</a:t>
            </a:r>
            <a:endParaRPr sz="1300"/>
          </a:p>
        </p:txBody>
      </p:sp>
      <p:sp>
        <p:nvSpPr>
          <p:cNvPr id="28" name="Text 16">
            <a:extLst xmlns:a="http://schemas.openxmlformats.org/drawingml/2006/main">
              <a:ext uri="{FF2B5EF4-FFF2-40B4-BE49-F238E27FC236}">
                <a16:creationId xmlns:a16="http://schemas.microsoft.com/office/drawing/2014/main" id="{415ED8D5-0087-4CDB-8254-A108A681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10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78318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5F5221-CC64-4D3F-BE80-65EC5907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Assignment XML: expected results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D8F025-9875-4AC0-AC40-F1AB0C38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9144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Default policy with an explicitly confirmed NL fallback country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6BF9EF-849D-4AB2-B582-5DFD27AF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486400" cy="4572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graphicFrame>
        <p:nvGraphicFramePr>
          <p:cNvPr id="23" name="Chart 0"/>
          <p:cNvGraphicFramePr/>
          <p:nvPr/>
        </p:nvGraphicFramePr>
        <p:xfrm>
          <a:off xmlns:a="http://schemas.openxmlformats.org/drawingml/2006/main" x="914400" y="1783080"/>
          <a:ext xmlns:a="http://schemas.openxmlformats.org/drawingml/2006/main" cx="4754880" cy="39319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ab8045970d4e38"/>
          </a:graphicData>
        </a:graphic>
      </p:graphicFrame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8D24722-B1E4-440B-89D5-2B758542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5349240" cy="214884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25F5677-B90E-4E46-99B2-CDDF8059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73736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AD1"/>
          </a:solidFill>
        </p:spPr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724eb70e640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0840" y="1874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226689F-B615-441C-B1C9-E38A5317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1691640"/>
            <a:ext cx="4069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Country was missing</a:t>
            </a:r>
            <a:endParaRPr sz="15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3E33EF8F-1B5C-45A6-AA22-09609100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48840"/>
            <a:ext cx="4800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Confirm the fallback country.</a:t>
            </a:r>
            <a:endParaRPr sz="1300"/>
          </a:p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The XML contains no country field.</a:t>
            </a:r>
            <a:endParaRPr sz="13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FDE19A5-7346-490F-B754-4CC74146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94760"/>
            <a:ext cx="5349240" cy="224028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572B848-B9E3-41A1-9FEE-D5519B42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069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AD1"/>
          </a:solidFill>
        </p:spPr>
      </p:sp>
      <p:pic>
        <p:nvPicPr>
          <p:cNvPr id="3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a3677311647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0840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63685448-6342-4B36-87EB-AA5B5EC4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023360"/>
            <a:ext cx="4069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Duplicate rows stayed separate</a:t>
            </a:r>
            <a:endParaRPr sz="15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B502BB4-00A9-4E4A-8A08-D5139C44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617720"/>
            <a:ext cx="4800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Identical source rows remain separate parcels. Retry protection applies to the operation key.</a:t>
            </a:r>
            <a:endParaRPr sz="13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E4E0BCB9-2D98-4DDB-989C-E462E78A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11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150531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4195496-80DA-459A-B2B9-77ABE1FD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Security and operational visibility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F4915F-D927-48B3-94C4-947A234D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Server-side access checks, bounded inputs and investigation tools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3679F38-A336-4C9A-BD09-E483C4E6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376BBB4-DEFA-4AA6-8D10-AE64BD51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4193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15555a1b1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187909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F5B826E-912A-4D50-ACB5-EA831A4C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64592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Login required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A5CE752-37AC-4E6A-B8D8-3C070F54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01168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Every action tied to a role</a:t>
            </a:r>
            <a:endParaRPr sz="11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352A0FB1-F292-4DAE-AB2A-01E256B3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150876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51DD8B3-59CC-471E-8FAB-D448212C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74193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e5f1705cb4a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07992" y="187909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E8E9C73-E191-4B9E-B7A6-28FEA10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164592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CSRF protection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737532A-CC91-4339-8252-C3B9AA9F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201168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Blocks forged requests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C3311F6-EB69-4235-94AE-785D4F1D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50876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C8815D16-BB50-43A2-86AE-7C437487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74193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6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05839fa2c40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47304" y="187909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2D520905-1148-4E25-BC7A-5A7E9969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164592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Safe file parsing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A9D8EEFA-13D7-4FF7-AA53-5DE5ECB6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01168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Rejects DTDs and unsafe input</a:t>
            </a:r>
            <a:endParaRPr sz="11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1BEFA07D-8480-4E1E-ABC9-7A3F26A8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01E2F7F4-86B6-4C85-B561-4DA7E226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637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7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aa9b6102442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311353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C4C9D85D-73D4-44D0-BCAE-3315B947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88036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Content safeguards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196B77F4-5277-4707-851B-58E4724A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4612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React escaping and headers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E96E7247-43CC-4A2C-AAF3-01EFB720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74320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970A2BEA-E10C-4CAF-A9CB-60A2A94E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97637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7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bbd2defb24f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07992" y="311353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A8CD8D45-F1F5-469B-B393-F6637B8A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288036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Input limits</a:t>
            </a:r>
            <a:endParaRPr sz="13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8566E764-6BD1-4DDC-AA8A-9A68185C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324612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Oversized files are refused</a:t>
            </a:r>
            <a:endParaRPr sz="11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5B20960F-B02C-4302-A3FF-EB0FC350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743200"/>
            <a:ext cx="3456432" cy="105156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8C480A3E-0910-4AE4-A223-16501AA1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2976372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</p:sp>
      <p:pic>
        <p:nvPicPr>
          <p:cNvPr id="8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10fd52d3a41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47304" y="311353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A4ECC20F-3317-472E-B96C-7BEBBA8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8036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Rate limits</a:t>
            </a:r>
            <a:endParaRPr sz="13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001B5DB3-1CF5-4412-A69A-BD25887D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246120"/>
            <a:ext cx="24048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1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Throttles repeated abuse</a:t>
            </a:r>
            <a:endParaRPr sz="110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06411EFA-0295-4837-B025-52427C2B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0"/>
            <a:ext cx="10881360" cy="146304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B3A5C"/>
          </a:solidFill>
        </p:spPr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C3173CF4-D25F-4CF2-95F0-E373E97E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891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8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64971789c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6930" y="460309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A2ADBCE9-BD5C-44C0-9122-5CDC8029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15968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monitoring</a:t>
            </a:r>
            <a:endParaRPr sz="150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CFBD1A4D-6CF6-4A35-9BDE-455AFB4B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681728"/>
            <a:ext cx="4206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Request IDs, actor logs, error spikes and department-share signals.</a:t>
            </a:r>
            <a:endParaRPr sz="1150"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13FC8E48-DD5D-4BCF-B421-89EA38BB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43400"/>
            <a:ext cx="0" cy="10058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40" name="Shape 31">
            <a:extLst xmlns:a="http://schemas.openxmlformats.org/drawingml/2006/main">
              <a:ext uri="{FF2B5EF4-FFF2-40B4-BE49-F238E27FC236}">
                <a16:creationId xmlns:a16="http://schemas.microsoft.com/office/drawing/2014/main" id="{CDF53C94-2C20-4487-A07C-9E87CFA1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891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92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02aff82024c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51930" y="460309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42" name="Text 32">
            <a:extLst xmlns:a="http://schemas.openxmlformats.org/drawingml/2006/main">
              <a:ext uri="{FF2B5EF4-FFF2-40B4-BE49-F238E27FC236}">
                <a16:creationId xmlns:a16="http://schemas.microsoft.com/office/drawing/2014/main" id="{45B2A3C8-C746-4675-A8E8-842070C0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15968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Configured alerts</a:t>
            </a:r>
            <a:endParaRPr sz="1500"/>
          </a:p>
        </p:txBody>
      </p:sp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E7636DC2-8743-4995-9916-79F47FC6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81728"/>
            <a:ext cx="3794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503 webhook attempts and an independent monitor. Delivery needs external setup.</a:t>
            </a:r>
            <a:endParaRPr sz="1150"/>
          </a:p>
        </p:txBody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1C10FFE4-7F4B-4D17-AEF2-FA65F1C8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12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37807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51B714-8A1E-473B-803A-1B0DD443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Testing and verification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BD1A7D-57D5-4779-8873-B4F325E3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9601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Regression checks across business logic, APIs, forms and the browser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981EAB4-A6D6-445E-B283-820CA914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2542032" cy="210312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50B3914-475B-49F3-8DF0-2CD4E1EB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2542032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Backend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7AE3933-E705-43F9-91DD-7F6241D2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6040"/>
            <a:ext cx="22677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Domain and API tests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2FC346-112D-4062-9F34-61AEF524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7520"/>
            <a:ext cx="22677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5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Boundary, property and golden-fixture checks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340D4C9-6E93-4684-82FF-F57E52E0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508760"/>
            <a:ext cx="2542032" cy="210312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5FB7E-3AE8-4840-BF2B-D915836E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737360"/>
            <a:ext cx="2542032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75%</a:t>
            </a:r>
            <a:endParaRPr sz="4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82AB4BE-FD9E-4A72-A4A5-E93435C6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606040"/>
            <a:ext cx="22677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minimum line coverage</a:t>
            </a:r>
            <a:endParaRPr sz="12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8F5CB19-73CE-49E3-AE0A-FC370EE1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3017520"/>
            <a:ext cx="22677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5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Server gate / startup excluded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3CAB79A-CFB8-493A-A5DC-F68662BC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508760"/>
            <a:ext cx="2542032" cy="210312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BB915D-487A-4605-A04D-9CDE0802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737360"/>
            <a:ext cx="2542032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UI</a:t>
            </a:r>
            <a:endParaRPr sz="4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7819960-F079-42E7-AB92-D57206CB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2606040"/>
            <a:ext cx="22677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Forms and workflows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EA11D4B-15B7-48B1-9F02-63FD3C50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3017520"/>
            <a:ext cx="22677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5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React tests and Playwright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739708B-B440-4DE2-B5DA-2952653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508760"/>
            <a:ext cx="2542032" cy="210312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1B2430">
                <a:alpha val="10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131712-CF1B-4CB8-994B-6A657299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737360"/>
            <a:ext cx="2542032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5,000</a:t>
            </a:r>
            <a:endParaRPr sz="4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C344C73-F2BA-46DB-82B6-4095559E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2606040"/>
            <a:ext cx="22677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rows in benchmark</a:t>
            </a:r>
            <a:endParaRPr sz="12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8828408-A094-4CC4-AD96-BCE9337F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017520"/>
            <a:ext cx="22677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5000"/>
              </a:lnSpc>
              <a:buNone/>
            </a:pPr>
            <a:r>
              <a:rPr sz="10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Local processing / no HTTP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F3F2076-CDE4-468D-B8AD-BBC1B2BF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862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415A77"/>
                </a:solidFill>
                <a:latin typeface="Calibri"/>
                <a:ea typeface="Calibri"/>
                <a:cs typeface="Calibri"/>
              </a:rPr>
              <a:t>WHAT THE TESTS ACTUALLY CHECK</a:t>
            </a:r>
            <a:endParaRPr sz="1200"/>
          </a:p>
        </p:txBody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42702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B0D226-2E9D-4295-9EF6-6E73988F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709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Exact weight/value boundaries</a:t>
            </a:r>
            <a:endParaRPr sz="1200"/>
          </a:p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78808" y="42702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3143456B-32BC-4B68-895D-D6342E50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19709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Malicious file uploads (XXE)</a:t>
            </a:r>
            <a:endParaRPr sz="1200"/>
          </a:p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2702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D0316071-E977-43E9-97D4-DB69F025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19709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Role permissions &amp; CSRF</a:t>
            </a:r>
            <a:endParaRPr sz="1200"/>
          </a:p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4773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BAD1DB13-E91D-4CED-9DA6-E18BCF19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001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Retry safety &amp; no duplicates</a:t>
            </a:r>
            <a:endParaRPr sz="1200"/>
          </a:p>
        </p:txBody>
      </p:sp>
      <p:pic>
        <p:nvPicPr>
          <p:cNvPr id="6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78808" y="4773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58B254-0EB2-49EA-8E68-D131F265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70001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Stale preview rejection</a:t>
            </a:r>
            <a:endParaRPr sz="1200"/>
          </a:p>
        </p:txBody>
      </p:sp>
      <p:pic>
        <p:nvPicPr>
          <p:cNvPr id="7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c6b797a854b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73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A682AD2F-EBD2-4DAD-92AB-58EC893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70001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Policy rollback</a:t>
            </a:r>
            <a:endParaRPr sz="12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8A75E749-BE09-43EB-8B68-413D435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Private-repository CodeQL needs owner setup. Tests do not establish production security.</a:t>
            </a:r>
            <a:endParaRPr sz="1100"/>
          </a:p>
        </p:txBody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9BE0EBAA-ADD1-433E-8E9A-EDA83267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13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862861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9A0A1BC-6F93-4D05-91C6-2B0B292D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B2430"/>
                </a:solidFill>
                <a:latin typeface="Cambria"/>
                <a:ea typeface="Cambria"/>
                <a:cs typeface="Cambria"/>
              </a:rPr>
              <a:t>Project direction and AI assistance</a:t>
            </a:r>
            <a:endParaRPr sz="2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7B5DC3B-94BB-48F7-9734-1CFE7862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9144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Contribution details are documented in docs/AI_USAGE.md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2D9626-B847-46A0-9172-D9383204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166360" cy="32004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9EC7344-9C50-4B91-9C71-14A89F6D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EEF4"/>
          </a:solidFill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4344b969c44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0120" y="1920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BB7BBE-4EED-46B6-BD52-78D47612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82880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AI assistance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26FDCA4-3983-455F-BE4C-EBF74A8B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68880"/>
            <a:ext cx="45262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Architecture and workflow design assistance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E40E43A-5687-4733-A2AB-8872AAAB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35808"/>
            <a:ext cx="45262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React UI, Express routes and SQLite integration</a:t>
            </a:r>
            <a:endParaRPr sz="12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2850049-DF96-464F-949E-674322EE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02736"/>
            <a:ext cx="45262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Tests, monitoring implementation and documentation</a:t>
            </a:r>
            <a:endParaRPr sz="12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7D15E46-08BB-4894-B0B2-B7C9EB1E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9664"/>
            <a:ext cx="45262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Revisions for reported issues and feedback</a:t>
            </a:r>
            <a:endParaRPr sz="12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65BA221-E965-4D07-A69A-CF71EE01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508760"/>
            <a:ext cx="5623560" cy="32004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B3A5C"/>
          </a:solidFill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36F119F-3343-489A-8D5B-AF9B7739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83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4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5b3b61335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920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2440FD9-2691-4314-9B2D-D42ABD57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28800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 contribution</a:t>
            </a:r>
            <a:endParaRPr sz="16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D54C02D-3A60-4B42-9668-33E8659C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49834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Selected SQLite and requested React/TypeScript</a:t>
            </a:r>
            <a:endParaRPr sz="12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A10AF5-3513-4515-8D50-0BFE3D33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035808"/>
            <a:ext cx="49834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Directed features and UI improvements step by step</a:t>
            </a:r>
            <a:endParaRPr sz="125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EB3E0E-7D65-4AD4-8D45-0858E7DB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02736"/>
            <a:ext cx="49834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Specified admin authority and staff account creation</a:t>
            </a:r>
            <a:endParaRPr sz="12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4B3CE66-EFAD-441E-AE8C-2B5CA2EC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69664"/>
            <a:ext cx="49834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E4EAF1"/>
                </a:solidFill>
                <a:latin typeface="Calibri"/>
                <a:ea typeface="Calibri"/>
                <a:cs typeface="Calibri"/>
              </a:rPr>
              <a:t>Requested role themes, testing and log monitoring</a:t>
            </a:r>
            <a:endParaRPr sz="12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5312B87-1852-4D3C-8574-FD1D2F49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2040"/>
            <a:ext cx="10881360" cy="118872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2700">
            <a:solidFill>
              <a:srgbClr val="DDE3E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273564F-ECAA-4D81-9DCD-2FD13F99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EAD1"/>
          </a:solidFill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7de51fcfa40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0976" y="524865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470392E-9E98-48F3-9F42-1F1F5F6B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892040"/>
            <a:ext cx="96926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2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Example feedback: Mail-to-Whale renaming now shows the active department while preserving dimmed historical Mail counts.</a:t>
            </a:r>
            <a:endParaRPr sz="1250"/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CCBECF8E-E432-49D6-8246-FF524AB9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14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0617983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8E2DA-AE83-42F2-A474-A3B510CD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Demo: intake and insurance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C9CC0-8746-47CE-8ADD-50916C2D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Start with the default policy and a fresh demo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5BD94-B53F-479D-82C0-4DDF06D5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1 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F0BD8-D4EB-4922-B05B-7A26554C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857375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Sign in and create staff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C46AB-F657-4091-BA16-32D549ED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6695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Use the demo admin, then create an operator and insurer.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261C9-5C6C-4AD5-BCD7-966DC17F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1 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4990E-2742-47AA-8DB7-0DCF50F4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765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Import explore-batch.json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E6944-2E25-4749-8924-E841E8C2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86125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Preview 12 valid rows, then confirm: 8 routed and 4 holds.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1A2D9-7DC0-4746-84FC-CE4BE20E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9572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1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EAFF5-6F79-458A-BD5E-6DA18112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Review one insurance 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403D8-AACA-4471-8265-301BC230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0530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Approve EXPLORE-08 as insurer. Mail routed count increases.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9D58B-C52B-44BC-BDDD-7D5B0D15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3A5C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3A5C"/>
                </a:solidFill>
                <a:latin typeface="Calibri"/>
                <a:ea typeface="Calibri"/>
                <a:cs typeface="Calibri"/>
              </a:rPr>
              <a:t>30 sec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79B6F8-5DE5-4353-B7D5-2A6C1439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1490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Inspect the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C8509-B3AE-4B25-B906-45A15A69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24475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Show the batch, policy version, filters and audit record.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8A8FBF-C703-4849-8E1E-4637BDF9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103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Local start: npm ci  /  npm run dev  /  http://127.0.0.1:5173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D92127-B428-43BC-AE38-6ECC3CD1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B7A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15  /  PARCELDESK</a:t>
            </a:r>
          </a:p>
        </p:txBody>
      </p:sp>
    </p:spTree>
    <p:extLst>
      <p:ext uri="{BB962C8B-B14F-4D97-AF65-F5344CB8AC3E}">
        <p14:creationId xmlns:p14="http://schemas.microsoft.com/office/powerpoint/2010/main" val="6407882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FCC7E0-36F8-4344-9617-9E5611DE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9144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Demo: policy change and next steps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1E5861-A559-4037-A0E6-2662365D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5156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Finish with an extension that preserves the insurance requirement</a:t>
            </a:r>
            <a:endParaRPr sz="13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427C947-97A4-4DC8-88D6-AE6430C2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0881360" cy="17373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6273D"/>
          </a:solidFill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FFE0D86-E535-49AB-B10D-6A245D25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65a2a1d884f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2650" y="2134210"/>
            <a:ext cx="395021" cy="395021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40DA4A9-31A4-4DC5-ACB4-6612FFDE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783080"/>
            <a:ext cx="8961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Fragile parcels routed to Special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D8602D1-9678-449D-92E9-DB9F023E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194560"/>
            <a:ext cx="8961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Add the rule, test a high-value fragile parcel, keep the expected result, preview and activate. Load an older version to demonstrate rollback.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F91E653-F2D8-4B50-9BD2-0EF51927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4A300"/>
                </a:solidFill>
                <a:latin typeface="Calibri"/>
                <a:ea typeface="Calibri"/>
                <a:cs typeface="Calibri"/>
              </a:rPr>
              <a:t>REMAINING DEPLOYMENT WORK</a:t>
            </a:r>
            <a:endParaRPr sz="12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757E830-C72B-4C26-A562-2394C122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3456432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6273D"/>
          </a:solidFill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916CF05-AFA3-4195-A778-915C1D16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33672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3600ebb5c4c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" y="4379976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8E2F1F8-4668-4BC0-9CC5-F8371E0E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83480"/>
            <a:ext cx="299923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 the datastore</a:t>
            </a:r>
            <a:endParaRPr sz="13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87E39DA-67A9-4E49-A9E0-46AC97B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30952"/>
            <a:ext cx="299923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Shared database and workers when volume requires them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9D6F395-A365-4A76-AADA-0DC2A49B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3977640"/>
            <a:ext cx="3456432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6273D"/>
          </a:solidFill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EFBCB26-446B-4003-93AD-79F143A1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4233672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4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de0ccccbd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2856" y="4379976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DE142C8D-C2E7-413E-AA6E-4AEEBC29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4983480"/>
            <a:ext cx="299923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Harden identity</a:t>
            </a:r>
            <a:endParaRPr sz="135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5A73BC5A-CB8F-409A-A03C-82453CE8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5330952"/>
            <a:ext cx="299923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SSO / MFA for real staff accounts</a:t>
            </a:r>
            <a:endParaRPr sz="11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34D9C42E-216F-4358-B4CB-D6AD9334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3977640"/>
            <a:ext cx="3456432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6273D"/>
          </a:solidFill>
          <a:ln xmlns:a="http://schemas.openxmlformats.org/drawingml/2006/main" w="12700">
            <a:solidFill>
              <a:srgbClr val="2C4258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B55182-18E5-4305-BA8E-33F0441F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4233672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4E75"/>
          </a:solidFill>
        </p:spPr>
      </p:sp>
      <p:pic>
        <p:nvPicPr>
          <p:cNvPr id="5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760516ede42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02168" y="4379976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E08B2B6C-1138-42E8-8A56-AA361E01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4983480"/>
            <a:ext cx="299923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ops</a:t>
            </a:r>
            <a:endParaRPr sz="135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EBA5743A-9A30-496F-B020-9D4806EF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5330952"/>
            <a:ext cx="299923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Real TLS, external alerts and restore rehearsal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FD09792A-827F-4B3F-B500-BD0B7A18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7220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Questions and code walkthrough</a:t>
            </a:r>
            <a:endParaRPr sz="125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9EB13ADF-9B76-46FD-BA3C-1002837F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79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16  /  PARCELDESK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1079725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2026-09-25T10:56:50.7150000Z</dcterms:created>
  <dcterms:modified xsi:type="dcterms:W3CDTF">2026-09-25T10:56:50.7150000Z</dcterms:modified>
</coreProperties>
</file>